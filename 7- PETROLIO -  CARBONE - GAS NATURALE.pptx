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75" r:id="rId9"/>
    <p:sldId id="264" r:id="rId10"/>
    <p:sldId id="265" r:id="rId11"/>
    <p:sldId id="267" r:id="rId12"/>
    <p:sldId id="268" r:id="rId13"/>
    <p:sldId id="269" r:id="rId14"/>
    <p:sldId id="270" r:id="rId15"/>
    <p:sldId id="272" r:id="rId16"/>
    <p:sldId id="273" r:id="rId17"/>
    <p:sldId id="271" r:id="rId18"/>
    <p:sldId id="274" r:id="rId19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CD32-11B4-4A13-8231-77CEF62AEE1F}" type="datetimeFigureOut">
              <a:rPr lang="it-IT" smtClean="0"/>
              <a:pPr/>
              <a:t>30/10/2020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41EF-ED73-4C0C-B956-F9532CB85AF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CD32-11B4-4A13-8231-77CEF62AEE1F}" type="datetimeFigureOut">
              <a:rPr lang="it-IT" smtClean="0"/>
              <a:pPr/>
              <a:t>30/10/2020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41EF-ED73-4C0C-B956-F9532CB85AF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CD32-11B4-4A13-8231-77CEF62AEE1F}" type="datetimeFigureOut">
              <a:rPr lang="it-IT" smtClean="0"/>
              <a:pPr/>
              <a:t>30/10/2020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41EF-ED73-4C0C-B956-F9532CB85AF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CD32-11B4-4A13-8231-77CEF62AEE1F}" type="datetimeFigureOut">
              <a:rPr lang="it-IT" smtClean="0"/>
              <a:pPr/>
              <a:t>30/10/2020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41EF-ED73-4C0C-B956-F9532CB85AF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CD32-11B4-4A13-8231-77CEF62AEE1F}" type="datetimeFigureOut">
              <a:rPr lang="it-IT" smtClean="0"/>
              <a:pPr/>
              <a:t>30/10/2020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41EF-ED73-4C0C-B956-F9532CB85AF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CD32-11B4-4A13-8231-77CEF62AEE1F}" type="datetimeFigureOut">
              <a:rPr lang="it-IT" smtClean="0"/>
              <a:pPr/>
              <a:t>30/10/2020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41EF-ED73-4C0C-B956-F9532CB85AF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CD32-11B4-4A13-8231-77CEF62AEE1F}" type="datetimeFigureOut">
              <a:rPr lang="it-IT" smtClean="0"/>
              <a:pPr/>
              <a:t>30/10/2020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41EF-ED73-4C0C-B956-F9532CB85AF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CD32-11B4-4A13-8231-77CEF62AEE1F}" type="datetimeFigureOut">
              <a:rPr lang="it-IT" smtClean="0"/>
              <a:pPr/>
              <a:t>30/10/2020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41EF-ED73-4C0C-B956-F9532CB85AF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CD32-11B4-4A13-8231-77CEF62AEE1F}" type="datetimeFigureOut">
              <a:rPr lang="it-IT" smtClean="0"/>
              <a:pPr/>
              <a:t>30/10/2020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41EF-ED73-4C0C-B956-F9532CB85AF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CD32-11B4-4A13-8231-77CEF62AEE1F}" type="datetimeFigureOut">
              <a:rPr lang="it-IT" smtClean="0"/>
              <a:pPr/>
              <a:t>30/10/2020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41EF-ED73-4C0C-B956-F9532CB85AF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ECD32-11B4-4A13-8231-77CEF62AEE1F}" type="datetimeFigureOut">
              <a:rPr lang="it-IT" smtClean="0"/>
              <a:pPr/>
              <a:t>30/10/2020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241EF-ED73-4C0C-B956-F9532CB85AF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ECD32-11B4-4A13-8231-77CEF62AEE1F}" type="datetimeFigureOut">
              <a:rPr lang="it-IT" smtClean="0"/>
              <a:pPr/>
              <a:t>30/10/2020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241EF-ED73-4C0C-B956-F9532CB85AF1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t.wikipedia.org/wiki/Idrogeno" TargetMode="External"/><Relationship Id="rId2" Type="http://schemas.openxmlformats.org/officeDocument/2006/relationships/hyperlink" Target="https://it.wikipedia.org/wiki/Carboni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t.wikipedia.org/wiki/Greggio_(petrolio)" TargetMode="External"/><Relationship Id="rId2" Type="http://schemas.openxmlformats.org/officeDocument/2006/relationships/hyperlink" Target="https://it.wikipedia.org/wiki/Raffineria_di_petroli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28596" y="214291"/>
            <a:ext cx="7772400" cy="1357322"/>
          </a:xfrm>
        </p:spPr>
        <p:txBody>
          <a:bodyPr/>
          <a:lstStyle/>
          <a:p>
            <a:r>
              <a:rPr lang="it-IT" dirty="0" smtClean="0"/>
              <a:t>GLI IDROCARBURI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714348" y="1928802"/>
            <a:ext cx="7929618" cy="300039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it-IT" b="1" dirty="0">
                <a:solidFill>
                  <a:schemeClr val="tx1"/>
                </a:solidFill>
              </a:rPr>
              <a:t>Gli idrocarburi </a:t>
            </a:r>
            <a:r>
              <a:rPr lang="it-IT" b="1" dirty="0" smtClean="0">
                <a:solidFill>
                  <a:schemeClr val="tx1"/>
                </a:solidFill>
              </a:rPr>
              <a:t>sono composti organici che </a:t>
            </a:r>
            <a:r>
              <a:rPr lang="it-IT" b="1" dirty="0">
                <a:solidFill>
                  <a:schemeClr val="tx1"/>
                </a:solidFill>
              </a:rPr>
              <a:t>contengono soltanto </a:t>
            </a:r>
            <a:r>
              <a:rPr lang="it-IT" b="1" dirty="0" smtClean="0">
                <a:solidFill>
                  <a:schemeClr val="tx1"/>
                </a:solidFill>
              </a:rPr>
              <a:t>atomi di</a:t>
            </a:r>
            <a:r>
              <a:rPr lang="it-IT" b="1" dirty="0">
                <a:solidFill>
                  <a:schemeClr val="tx1"/>
                </a:solidFill>
              </a:rPr>
              <a:t> </a:t>
            </a:r>
            <a:r>
              <a:rPr lang="it-IT" b="1" dirty="0">
                <a:solidFill>
                  <a:schemeClr val="tx1"/>
                </a:solidFill>
                <a:hlinkClick r:id="rId2" tooltip="Carbonio"/>
              </a:rPr>
              <a:t>carbonio</a:t>
            </a:r>
            <a:r>
              <a:rPr lang="it-IT" b="1" dirty="0">
                <a:solidFill>
                  <a:schemeClr val="tx1"/>
                </a:solidFill>
              </a:rPr>
              <a:t> e di </a:t>
            </a:r>
            <a:r>
              <a:rPr lang="it-IT" b="1" dirty="0">
                <a:solidFill>
                  <a:schemeClr val="tx1"/>
                </a:solidFill>
                <a:hlinkClick r:id="rId3" tooltip="Idrogeno"/>
              </a:rPr>
              <a:t>idrogeno</a:t>
            </a:r>
            <a:r>
              <a:rPr lang="it-IT" b="1" dirty="0" smtClean="0">
                <a:solidFill>
                  <a:schemeClr val="tx1"/>
                </a:solidFill>
              </a:rPr>
              <a:t>.</a:t>
            </a:r>
          </a:p>
          <a:p>
            <a:pPr algn="l"/>
            <a:endParaRPr lang="it-IT" b="1" dirty="0">
              <a:solidFill>
                <a:schemeClr val="tx1"/>
              </a:solidFill>
            </a:endParaRPr>
          </a:p>
          <a:p>
            <a:pPr algn="l"/>
            <a:r>
              <a:rPr lang="it-IT" b="1" dirty="0">
                <a:solidFill>
                  <a:schemeClr val="tx1"/>
                </a:solidFill>
              </a:rPr>
              <a:t>Ampiamente usati come </a:t>
            </a:r>
            <a:r>
              <a:rPr lang="it-IT" b="1" dirty="0" smtClean="0">
                <a:solidFill>
                  <a:schemeClr val="tx1"/>
                </a:solidFill>
              </a:rPr>
              <a:t>combustibili, </a:t>
            </a:r>
            <a:r>
              <a:rPr lang="it-IT" b="1" dirty="0">
                <a:solidFill>
                  <a:schemeClr val="tx1"/>
                </a:solidFill>
              </a:rPr>
              <a:t>la loro principale fonte in natura è di origine </a:t>
            </a:r>
            <a:r>
              <a:rPr lang="it-IT" b="1" dirty="0" smtClean="0">
                <a:solidFill>
                  <a:schemeClr val="tx1"/>
                </a:solidFill>
              </a:rPr>
              <a:t>fossile sottoforma di:</a:t>
            </a:r>
          </a:p>
          <a:p>
            <a:pPr algn="l"/>
            <a:endParaRPr lang="it-IT" b="1" dirty="0">
              <a:solidFill>
                <a:schemeClr val="tx1"/>
              </a:solidFill>
            </a:endParaRPr>
          </a:p>
          <a:p>
            <a:pPr algn="l"/>
            <a:r>
              <a:rPr lang="it-IT" b="1" dirty="0" smtClean="0">
                <a:solidFill>
                  <a:schemeClr val="tx1"/>
                </a:solidFill>
              </a:rPr>
              <a:t>PETROLIO</a:t>
            </a:r>
          </a:p>
          <a:p>
            <a:pPr algn="l"/>
            <a:r>
              <a:rPr lang="it-IT" b="1" dirty="0" smtClean="0">
                <a:solidFill>
                  <a:schemeClr val="tx1"/>
                </a:solidFill>
              </a:rPr>
              <a:t>GAS NATURALE</a:t>
            </a:r>
          </a:p>
          <a:p>
            <a:pPr algn="l"/>
            <a:r>
              <a:rPr lang="it-IT" b="1" dirty="0" smtClean="0">
                <a:solidFill>
                  <a:schemeClr val="tx1"/>
                </a:solidFill>
              </a:rPr>
              <a:t>CARBONE</a:t>
            </a:r>
            <a:endParaRPr lang="it-IT" b="1" dirty="0">
              <a:solidFill>
                <a:schemeClr val="tx1"/>
              </a:solidFill>
            </a:endParaRPr>
          </a:p>
          <a:p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Il PETROLIO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614866" cy="4525963"/>
          </a:xfrm>
        </p:spPr>
        <p:txBody>
          <a:bodyPr>
            <a:normAutofit fontScale="85000" lnSpcReduction="20000"/>
          </a:bodyPr>
          <a:lstStyle/>
          <a:p>
            <a:pPr marL="0">
              <a:spcBef>
                <a:spcPts val="0"/>
              </a:spcBef>
              <a:buNone/>
            </a:pPr>
            <a:r>
              <a:rPr lang="it-IT" dirty="0" smtClean="0"/>
              <a:t>Il </a:t>
            </a:r>
            <a:r>
              <a:rPr lang="it-IT" dirty="0"/>
              <a:t>petrolio greggio è un miscuglio di</a:t>
            </a:r>
          </a:p>
          <a:p>
            <a:pPr marL="0">
              <a:spcBef>
                <a:spcPts val="0"/>
              </a:spcBef>
              <a:buNone/>
            </a:pPr>
            <a:r>
              <a:rPr lang="it-IT" dirty="0"/>
              <a:t>idrocarburi, costituiti soprattutto da</a:t>
            </a:r>
          </a:p>
          <a:p>
            <a:pPr marL="0">
              <a:spcBef>
                <a:spcPts val="0"/>
              </a:spcBef>
              <a:buNone/>
            </a:pPr>
            <a:r>
              <a:rPr lang="it-IT" i="1" dirty="0"/>
              <a:t>carbonio (80-90%) e, in parte, da</a:t>
            </a:r>
          </a:p>
          <a:p>
            <a:pPr marL="0">
              <a:spcBef>
                <a:spcPts val="0"/>
              </a:spcBef>
              <a:buNone/>
            </a:pPr>
            <a:r>
              <a:rPr lang="it-IT" i="1" dirty="0"/>
              <a:t>idrogeno (9-15</a:t>
            </a:r>
            <a:r>
              <a:rPr lang="it-IT" i="1" dirty="0" smtClean="0"/>
              <a:t>%).</a:t>
            </a:r>
          </a:p>
          <a:p>
            <a:pPr marL="0">
              <a:spcBef>
                <a:spcPts val="0"/>
              </a:spcBef>
              <a:buNone/>
            </a:pPr>
            <a:r>
              <a:rPr lang="it-IT" i="1" dirty="0" smtClean="0"/>
              <a:t> </a:t>
            </a:r>
          </a:p>
          <a:p>
            <a:pPr marL="0">
              <a:spcBef>
                <a:spcPts val="0"/>
              </a:spcBef>
              <a:buNone/>
            </a:pPr>
            <a:r>
              <a:rPr lang="it-IT" i="1" dirty="0" smtClean="0"/>
              <a:t>In percentuali </a:t>
            </a:r>
            <a:r>
              <a:rPr lang="it-IT" dirty="0" smtClean="0"/>
              <a:t>minori </a:t>
            </a:r>
            <a:r>
              <a:rPr lang="it-IT" dirty="0"/>
              <a:t>si </a:t>
            </a:r>
            <a:r>
              <a:rPr lang="it-IT" dirty="0" smtClean="0"/>
              <a:t>trovano zolfo</a:t>
            </a:r>
            <a:r>
              <a:rPr lang="it-IT" dirty="0"/>
              <a:t>, azoto </a:t>
            </a:r>
            <a:r>
              <a:rPr lang="it-IT" dirty="0" smtClean="0"/>
              <a:t>e ossigeno.</a:t>
            </a:r>
          </a:p>
          <a:p>
            <a:pPr marL="0">
              <a:spcBef>
                <a:spcPts val="0"/>
              </a:spcBef>
              <a:buNone/>
            </a:pPr>
            <a:endParaRPr lang="it-IT" dirty="0"/>
          </a:p>
          <a:p>
            <a:pPr marL="0">
              <a:spcBef>
                <a:spcPts val="0"/>
              </a:spcBef>
              <a:buNone/>
            </a:pPr>
            <a:r>
              <a:rPr lang="it-IT" dirty="0"/>
              <a:t>Il petrolio viene usato “</a:t>
            </a:r>
            <a:r>
              <a:rPr lang="it-IT" dirty="0" smtClean="0"/>
              <a:t>frazionandolo” nei </a:t>
            </a:r>
            <a:r>
              <a:rPr lang="it-IT" dirty="0"/>
              <a:t>suoi componenti, cioè benzina,</a:t>
            </a:r>
          </a:p>
          <a:p>
            <a:pPr marL="0">
              <a:spcBef>
                <a:spcPts val="0"/>
              </a:spcBef>
              <a:buNone/>
            </a:pPr>
            <a:r>
              <a:rPr lang="it-IT" dirty="0"/>
              <a:t>gasolio, Kerosene, gas ecc</a:t>
            </a:r>
            <a:r>
              <a:rPr lang="it-IT" dirty="0" smtClean="0"/>
              <a:t>.</a:t>
            </a:r>
          </a:p>
          <a:p>
            <a:pPr marL="0">
              <a:spcBef>
                <a:spcPts val="0"/>
              </a:spcBef>
              <a:buNone/>
            </a:pPr>
            <a:endParaRPr lang="it-IT" dirty="0"/>
          </a:p>
          <a:p>
            <a:pPr marL="0">
              <a:spcBef>
                <a:spcPts val="0"/>
              </a:spcBef>
              <a:buNone/>
            </a:pPr>
            <a:r>
              <a:rPr lang="it-IT" b="1" dirty="0"/>
              <a:t>L’unità di misura del petrolio è il</a:t>
            </a:r>
          </a:p>
          <a:p>
            <a:pPr marL="0">
              <a:spcBef>
                <a:spcPts val="0"/>
              </a:spcBef>
              <a:buNone/>
            </a:pPr>
            <a:r>
              <a:rPr lang="it-IT" b="1" dirty="0"/>
              <a:t>“barile” che equivale a 159 litri.</a:t>
            </a:r>
            <a:endParaRPr lang="it-IT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286380" y="2071678"/>
            <a:ext cx="3508595" cy="2683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ORIGINE DEL PETROLIO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3929066"/>
            <a:ext cx="8229600" cy="2197097"/>
          </a:xfrm>
        </p:spPr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it-IT" b="1" dirty="0"/>
              <a:t>Formazione del petrolio: </a:t>
            </a:r>
            <a:r>
              <a:rPr lang="it-IT" dirty="0"/>
              <a:t>il plancton che viveva milioni di anni fa negli</a:t>
            </a:r>
          </a:p>
          <a:p>
            <a:pPr algn="just">
              <a:buNone/>
            </a:pPr>
            <a:r>
              <a:rPr lang="it-IT" dirty="0"/>
              <a:t>specchi d’acqua interni è stato ricoperto via via da strati successivi di rocce</a:t>
            </a:r>
          </a:p>
          <a:p>
            <a:pPr algn="just">
              <a:buNone/>
            </a:pPr>
            <a:r>
              <a:rPr lang="it-IT" dirty="0"/>
              <a:t>sedimentarie. Senza il contatto con l’aria si è poi trasformato in idrocarburi.</a:t>
            </a:r>
          </a:p>
          <a:p>
            <a:pPr algn="just">
              <a:buNone/>
            </a:pPr>
            <a:r>
              <a:rPr lang="it-IT" b="1" dirty="0"/>
              <a:t>Formazione dei giacimenti</a:t>
            </a:r>
            <a:r>
              <a:rPr lang="it-IT" dirty="0"/>
              <a:t>: i movimenti tettonici hanno formato le </a:t>
            </a:r>
            <a:r>
              <a:rPr lang="it-IT" i="1" dirty="0"/>
              <a:t>trappole</a:t>
            </a:r>
          </a:p>
          <a:p>
            <a:pPr algn="just">
              <a:buNone/>
            </a:pPr>
            <a:r>
              <a:rPr lang="it-IT" i="1" dirty="0"/>
              <a:t>petrolifere, costituite da uno strato impermeabile superiore e da uno strato</a:t>
            </a:r>
          </a:p>
          <a:p>
            <a:pPr algn="just">
              <a:buNone/>
            </a:pPr>
            <a:r>
              <a:rPr lang="it-IT" dirty="0"/>
              <a:t>poroso sottostante, contenenti gocce oleose di idrocarburi.</a:t>
            </a:r>
          </a:p>
          <a:p>
            <a:pPr algn="just">
              <a:buNone/>
            </a:pPr>
            <a:r>
              <a:rPr lang="it-IT" b="1" dirty="0"/>
              <a:t>Giacimento: gocce di petrolio che occupano i vuoti della roccia porosa.</a:t>
            </a:r>
            <a:endParaRPr lang="it-IT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357298"/>
            <a:ext cx="2790825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1500174"/>
            <a:ext cx="3152775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IMPIEGHI DEL PETROLIO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357290" y="1571612"/>
            <a:ext cx="6257940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it-IT" b="1" dirty="0"/>
              <a:t>Carburanti: </a:t>
            </a:r>
            <a:r>
              <a:rPr lang="it-IT" b="1" i="1" dirty="0"/>
              <a:t>benzine per i motori a scoppio,</a:t>
            </a:r>
          </a:p>
          <a:p>
            <a:pPr>
              <a:buNone/>
            </a:pPr>
            <a:r>
              <a:rPr lang="it-IT" i="1" dirty="0"/>
              <a:t>gasolio per i diesel, kerosene per gli aerei.</a:t>
            </a:r>
          </a:p>
          <a:p>
            <a:pPr>
              <a:buNone/>
            </a:pPr>
            <a:r>
              <a:rPr lang="it-IT" b="1" dirty="0"/>
              <a:t>Combustibili: </a:t>
            </a:r>
            <a:r>
              <a:rPr lang="it-IT" b="1" i="1" dirty="0"/>
              <a:t>gasolio per il riscaldamento e</a:t>
            </a:r>
          </a:p>
          <a:p>
            <a:pPr>
              <a:buNone/>
            </a:pPr>
            <a:r>
              <a:rPr lang="it-IT" dirty="0"/>
              <a:t>impieghi industriali, </a:t>
            </a:r>
            <a:r>
              <a:rPr lang="it-IT" i="1" dirty="0"/>
              <a:t>olio combustibile (o nafta)</a:t>
            </a:r>
          </a:p>
          <a:p>
            <a:pPr>
              <a:buNone/>
            </a:pPr>
            <a:r>
              <a:rPr lang="it-IT" dirty="0"/>
              <a:t>per le centrali termoelettriche.</a:t>
            </a:r>
          </a:p>
          <a:p>
            <a:pPr>
              <a:buNone/>
            </a:pPr>
            <a:r>
              <a:rPr lang="it-IT" b="1" dirty="0" err="1"/>
              <a:t>Virginafta</a:t>
            </a:r>
            <a:r>
              <a:rPr lang="it-IT" b="1" dirty="0"/>
              <a:t>: è la materia prima per l’industria</a:t>
            </a:r>
          </a:p>
          <a:p>
            <a:pPr>
              <a:buNone/>
            </a:pPr>
            <a:r>
              <a:rPr lang="it-IT" dirty="0"/>
              <a:t>petrolchimica che produce materie plastiche,</a:t>
            </a:r>
          </a:p>
          <a:p>
            <a:pPr>
              <a:buNone/>
            </a:pPr>
            <a:r>
              <a:rPr lang="it-IT" dirty="0"/>
              <a:t>gomme sintetiche, fertilizzanti artificiali.</a:t>
            </a:r>
          </a:p>
          <a:p>
            <a:pPr>
              <a:buNone/>
            </a:pPr>
            <a:r>
              <a:rPr lang="it-IT" b="1" dirty="0"/>
              <a:t>Prodotti derivati: </a:t>
            </a:r>
            <a:r>
              <a:rPr lang="it-IT" b="1" i="1" dirty="0"/>
              <a:t>lubrificanti, asfalti e bitumi,</a:t>
            </a:r>
          </a:p>
          <a:p>
            <a:pPr>
              <a:buNone/>
            </a:pPr>
            <a:r>
              <a:rPr lang="it-IT" i="1" dirty="0"/>
              <a:t>paraffina (cere, lucidi), vasellina (farmacia e</a:t>
            </a:r>
          </a:p>
          <a:p>
            <a:pPr>
              <a:buNone/>
            </a:pPr>
            <a:r>
              <a:rPr lang="it-IT" dirty="0"/>
              <a:t>prodotti cosmetici) ecc.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PETROLIO E AMBIENTE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>
              <a:spcBef>
                <a:spcPts val="0"/>
              </a:spcBef>
              <a:buNone/>
            </a:pPr>
            <a:r>
              <a:rPr lang="it-IT" dirty="0"/>
              <a:t>I prodotti petroliferi sono la fonte principale </a:t>
            </a:r>
            <a:r>
              <a:rPr lang="it-IT" dirty="0" smtClean="0"/>
              <a:t>di inquinamento nel mondo</a:t>
            </a:r>
            <a:r>
              <a:rPr lang="it-IT" dirty="0"/>
              <a:t>, anche per la loro grande diffusione.</a:t>
            </a:r>
          </a:p>
          <a:p>
            <a:pPr marL="0">
              <a:spcBef>
                <a:spcPts val="0"/>
              </a:spcBef>
              <a:buNone/>
            </a:pPr>
            <a:r>
              <a:rPr lang="it-IT" dirty="0"/>
              <a:t>La combustione della </a:t>
            </a:r>
            <a:r>
              <a:rPr lang="it-IT" b="1" dirty="0"/>
              <a:t>benzina emette il </a:t>
            </a:r>
            <a:r>
              <a:rPr lang="it-IT" b="1" i="1" dirty="0"/>
              <a:t>monossido di </a:t>
            </a:r>
            <a:r>
              <a:rPr lang="it-IT" b="1" i="1" dirty="0" smtClean="0"/>
              <a:t>carbonio </a:t>
            </a:r>
            <a:r>
              <a:rPr lang="it-IT" dirty="0" smtClean="0"/>
              <a:t>che </a:t>
            </a:r>
            <a:r>
              <a:rPr lang="it-IT" dirty="0"/>
              <a:t>è molto tossico, </a:t>
            </a:r>
            <a:r>
              <a:rPr lang="it-IT" i="1" dirty="0"/>
              <a:t>idrocarburi non bruciati e </a:t>
            </a:r>
            <a:r>
              <a:rPr lang="it-IT" i="1" dirty="0" smtClean="0"/>
              <a:t>composti </a:t>
            </a:r>
            <a:r>
              <a:rPr lang="it-IT" dirty="0" smtClean="0"/>
              <a:t>dell’</a:t>
            </a:r>
            <a:r>
              <a:rPr lang="it-IT" i="1" dirty="0" smtClean="0"/>
              <a:t>azoto</a:t>
            </a:r>
            <a:r>
              <a:rPr lang="it-IT" i="1" dirty="0"/>
              <a:t>.</a:t>
            </a:r>
          </a:p>
          <a:p>
            <a:pPr marL="0">
              <a:spcBef>
                <a:spcPts val="0"/>
              </a:spcBef>
              <a:buNone/>
            </a:pPr>
            <a:r>
              <a:rPr lang="it-IT" dirty="0"/>
              <a:t>La combustione del </a:t>
            </a:r>
            <a:r>
              <a:rPr lang="it-IT" b="1" dirty="0"/>
              <a:t>gasolio emette </a:t>
            </a:r>
            <a:r>
              <a:rPr lang="it-IT" b="1" i="1" dirty="0"/>
              <a:t>particolato, particelle </a:t>
            </a:r>
            <a:r>
              <a:rPr lang="it-IT" b="1" i="1" dirty="0" smtClean="0"/>
              <a:t>liquide </a:t>
            </a:r>
            <a:r>
              <a:rPr lang="it-IT" dirty="0" smtClean="0"/>
              <a:t>e </a:t>
            </a:r>
            <a:r>
              <a:rPr lang="it-IT" dirty="0"/>
              <a:t>solide molto tossiche, e i composti dello </a:t>
            </a:r>
            <a:r>
              <a:rPr lang="it-IT" i="1" dirty="0"/>
              <a:t>zolfo che causano </a:t>
            </a:r>
            <a:r>
              <a:rPr lang="it-IT" i="1" dirty="0" smtClean="0"/>
              <a:t>le </a:t>
            </a:r>
            <a:r>
              <a:rPr lang="it-IT" dirty="0" smtClean="0"/>
              <a:t>piogge </a:t>
            </a:r>
            <a:r>
              <a:rPr lang="it-IT" dirty="0"/>
              <a:t>acide.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RAFFINERIA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3857628"/>
            <a:ext cx="8229600" cy="2268535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it-IT" b="1" dirty="0"/>
              <a:t>La raffineria è un grande impianto dove il greggio viene sottoposto alla</a:t>
            </a:r>
          </a:p>
          <a:p>
            <a:pPr>
              <a:buNone/>
            </a:pPr>
            <a:r>
              <a:rPr lang="it-IT" b="1" i="1" dirty="0"/>
              <a:t>distillazione frazionata</a:t>
            </a:r>
            <a:r>
              <a:rPr lang="it-IT" i="1" dirty="0"/>
              <a:t>. Infatti il petrolio è un miscuglio di idrocarburi</a:t>
            </a:r>
          </a:p>
          <a:p>
            <a:pPr>
              <a:buNone/>
            </a:pPr>
            <a:r>
              <a:rPr lang="it-IT" dirty="0"/>
              <a:t>liquidi (kerosene, benzina, gasolio) e gassosi (come il metano). </a:t>
            </a:r>
            <a:endParaRPr lang="it-IT" dirty="0" smtClean="0"/>
          </a:p>
          <a:p>
            <a:pPr>
              <a:buNone/>
            </a:pPr>
            <a:r>
              <a:rPr lang="it-IT" dirty="0" smtClean="0"/>
              <a:t>Per</a:t>
            </a:r>
            <a:r>
              <a:rPr lang="it-IT" dirty="0"/>
              <a:t> </a:t>
            </a:r>
            <a:r>
              <a:rPr lang="it-IT" dirty="0" smtClean="0"/>
              <a:t>separarli </a:t>
            </a:r>
            <a:r>
              <a:rPr lang="it-IT" dirty="0"/>
              <a:t>si usa la </a:t>
            </a:r>
            <a:r>
              <a:rPr lang="it-IT" i="1" dirty="0"/>
              <a:t>distillazione nella torre di distillazione.</a:t>
            </a:r>
          </a:p>
          <a:p>
            <a:pPr>
              <a:buNone/>
            </a:pPr>
            <a:r>
              <a:rPr lang="it-IT" dirty="0"/>
              <a:t>L’impianto è diviso in tre blocchi collegati tra loro:</a:t>
            </a:r>
          </a:p>
          <a:p>
            <a:pPr>
              <a:buNone/>
            </a:pPr>
            <a:r>
              <a:rPr lang="it-IT" dirty="0"/>
              <a:t>- cisterne del greggio;</a:t>
            </a:r>
          </a:p>
          <a:p>
            <a:pPr>
              <a:buNone/>
            </a:pPr>
            <a:r>
              <a:rPr lang="it-IT" dirty="0"/>
              <a:t>- torri di lavorazione;</a:t>
            </a:r>
          </a:p>
          <a:p>
            <a:pPr>
              <a:buNone/>
            </a:pPr>
            <a:r>
              <a:rPr lang="it-IT" dirty="0"/>
              <a:t>- cisterne dei prodotti raffinati.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71612"/>
            <a:ext cx="9039225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SEPARAZIONE DEGLI IDROCARBURI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4471990" cy="4525963"/>
          </a:xfrm>
        </p:spPr>
        <p:txBody>
          <a:bodyPr>
            <a:normAutofit fontScale="55000" lnSpcReduction="20000"/>
          </a:bodyPr>
          <a:lstStyle/>
          <a:p>
            <a:pPr marL="0" algn="just">
              <a:spcBef>
                <a:spcPts val="0"/>
              </a:spcBef>
              <a:buNone/>
            </a:pPr>
            <a:r>
              <a:rPr lang="it-IT" dirty="0"/>
              <a:t>Moltissimi idrocarburi derivano dal </a:t>
            </a:r>
            <a:r>
              <a:rPr lang="it-IT" dirty="0" smtClean="0"/>
              <a:t>processo di</a:t>
            </a:r>
            <a:r>
              <a:rPr lang="it-IT" dirty="0"/>
              <a:t> </a:t>
            </a:r>
            <a:r>
              <a:rPr lang="it-IT" dirty="0">
                <a:hlinkClick r:id="rId2" tooltip="Raffineria di petrolio"/>
              </a:rPr>
              <a:t>raffinazione del petrolio</a:t>
            </a:r>
            <a:r>
              <a:rPr lang="it-IT" dirty="0"/>
              <a:t>, che consiste in un insieme di processi chimico-fisici che hanno lo scopo di ottenere determinati prodotti chimici (miscele combustibili, asfalto, lubrificanti, ecc.) a partire dal </a:t>
            </a:r>
            <a:r>
              <a:rPr lang="it-IT" dirty="0">
                <a:hlinkClick r:id="rId3" tooltip="Greggio (petrolio)"/>
              </a:rPr>
              <a:t>greggio</a:t>
            </a:r>
            <a:r>
              <a:rPr lang="it-IT" dirty="0" smtClean="0"/>
              <a:t>.</a:t>
            </a:r>
          </a:p>
          <a:p>
            <a:pPr marL="0" algn="just">
              <a:spcBef>
                <a:spcPts val="0"/>
              </a:spcBef>
              <a:buNone/>
            </a:pPr>
            <a:endParaRPr lang="it-IT" dirty="0" smtClean="0"/>
          </a:p>
          <a:p>
            <a:pPr marL="0" algn="just">
              <a:spcBef>
                <a:spcPts val="0"/>
              </a:spcBef>
              <a:buNone/>
            </a:pPr>
            <a:r>
              <a:rPr lang="it-IT" dirty="0" smtClean="0"/>
              <a:t>Il processo prende il nome di DISTILLAZIONE FRAZIONATA.</a:t>
            </a:r>
          </a:p>
          <a:p>
            <a:pPr marL="0" algn="just">
              <a:spcBef>
                <a:spcPts val="0"/>
              </a:spcBef>
              <a:buNone/>
            </a:pPr>
            <a:endParaRPr lang="it-IT" dirty="0" smtClean="0"/>
          </a:p>
          <a:p>
            <a:pPr marL="0" algn="just">
              <a:spcBef>
                <a:spcPts val="0"/>
              </a:spcBef>
              <a:buNone/>
            </a:pPr>
            <a:r>
              <a:rPr lang="it-IT" dirty="0" smtClean="0"/>
              <a:t>Il </a:t>
            </a:r>
            <a:r>
              <a:rPr lang="it-IT" dirty="0"/>
              <a:t>greggio entra in un </a:t>
            </a:r>
            <a:r>
              <a:rPr lang="it-IT" dirty="0" smtClean="0"/>
              <a:t>forno, dove </a:t>
            </a:r>
            <a:r>
              <a:rPr lang="it-IT" dirty="0"/>
              <a:t>scorre un </a:t>
            </a:r>
            <a:r>
              <a:rPr lang="it-IT" dirty="0" smtClean="0"/>
              <a:t>tubo fortemente </a:t>
            </a:r>
            <a:r>
              <a:rPr lang="it-IT" dirty="0"/>
              <a:t>riscaldato. </a:t>
            </a:r>
            <a:endParaRPr lang="it-IT" dirty="0" smtClean="0"/>
          </a:p>
          <a:p>
            <a:pPr marL="0" algn="just">
              <a:spcBef>
                <a:spcPts val="0"/>
              </a:spcBef>
              <a:buNone/>
            </a:pPr>
            <a:r>
              <a:rPr lang="it-IT" dirty="0" smtClean="0"/>
              <a:t>Dal forno </a:t>
            </a:r>
            <a:r>
              <a:rPr lang="it-IT" dirty="0"/>
              <a:t>esce alla </a:t>
            </a:r>
            <a:r>
              <a:rPr lang="it-IT" dirty="0" smtClean="0"/>
              <a:t>temperatura di circa 400 </a:t>
            </a:r>
            <a:r>
              <a:rPr lang="it-IT" dirty="0"/>
              <a:t>°</a:t>
            </a:r>
            <a:r>
              <a:rPr lang="it-IT" dirty="0" smtClean="0"/>
              <a:t>C</a:t>
            </a:r>
            <a:r>
              <a:rPr lang="it-IT" dirty="0"/>
              <a:t>, in </a:t>
            </a:r>
            <a:r>
              <a:rPr lang="it-IT" dirty="0" smtClean="0"/>
              <a:t>parte vaporizzato</a:t>
            </a:r>
            <a:r>
              <a:rPr lang="it-IT" dirty="0"/>
              <a:t>, ed entra </a:t>
            </a:r>
            <a:r>
              <a:rPr lang="it-IT" dirty="0" smtClean="0"/>
              <a:t>dal basso </a:t>
            </a:r>
            <a:r>
              <a:rPr lang="it-IT" dirty="0"/>
              <a:t>della colonna </a:t>
            </a:r>
            <a:r>
              <a:rPr lang="it-IT" dirty="0" smtClean="0"/>
              <a:t>di frazionamento</a:t>
            </a:r>
            <a:r>
              <a:rPr lang="it-IT" dirty="0"/>
              <a:t>. </a:t>
            </a:r>
            <a:endParaRPr lang="it-IT" dirty="0" smtClean="0"/>
          </a:p>
          <a:p>
            <a:pPr marL="0" algn="just">
              <a:spcBef>
                <a:spcPts val="0"/>
              </a:spcBef>
              <a:buNone/>
            </a:pPr>
            <a:r>
              <a:rPr lang="it-IT" dirty="0" smtClean="0"/>
              <a:t>La parte vaporizzata </a:t>
            </a:r>
            <a:r>
              <a:rPr lang="it-IT" dirty="0"/>
              <a:t>sale. A </a:t>
            </a:r>
            <a:r>
              <a:rPr lang="it-IT" dirty="0" smtClean="0"/>
              <a:t>ogni piano </a:t>
            </a:r>
            <a:r>
              <a:rPr lang="it-IT" dirty="0"/>
              <a:t>si fermano i vapori </a:t>
            </a:r>
            <a:r>
              <a:rPr lang="it-IT" dirty="0" smtClean="0"/>
              <a:t>di un </a:t>
            </a:r>
            <a:r>
              <a:rPr lang="it-IT" dirty="0"/>
              <a:t>certo tipo, </a:t>
            </a:r>
            <a:r>
              <a:rPr lang="it-IT" dirty="0" smtClean="0"/>
              <a:t>che condensano </a:t>
            </a:r>
            <a:r>
              <a:rPr lang="it-IT" dirty="0"/>
              <a:t>nei piatti.</a:t>
            </a:r>
          </a:p>
          <a:p>
            <a:pPr marL="0" algn="just">
              <a:spcBef>
                <a:spcPts val="0"/>
              </a:spcBef>
              <a:buNone/>
            </a:pPr>
            <a:r>
              <a:rPr lang="it-IT" dirty="0"/>
              <a:t>Dal fondo esce il </a:t>
            </a:r>
            <a:r>
              <a:rPr lang="it-IT" dirty="0" smtClean="0"/>
              <a:t>residuo, detto </a:t>
            </a:r>
            <a:r>
              <a:rPr lang="it-IT" dirty="0"/>
              <a:t>olio combustibile.</a:t>
            </a:r>
          </a:p>
        </p:txBody>
      </p:sp>
      <p:pic>
        <p:nvPicPr>
          <p:cNvPr id="4098" name="Picture 2" descr="https://upload.wikimedia.org/wikipedia/commons/d/d5/Crude_Oil_Distillation-ITA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628" y="1857364"/>
            <a:ext cx="3897657" cy="39290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286116" y="2071678"/>
            <a:ext cx="5643602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 descr="https://upload.wikimedia.org/wikipedia/commons/d/d5/Crude_Oil_Distillation-ITA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2214554"/>
            <a:ext cx="3071801" cy="3500462"/>
          </a:xfrm>
          <a:prstGeom prst="rect">
            <a:avLst/>
          </a:prstGeom>
          <a:noFill/>
        </p:spPr>
      </p:pic>
      <p:sp>
        <p:nvSpPr>
          <p:cNvPr id="7" name="Titolo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143000"/>
          </a:xfrm>
        </p:spPr>
        <p:txBody>
          <a:bodyPr/>
          <a:lstStyle/>
          <a:p>
            <a:r>
              <a:rPr lang="it-IT" dirty="0" smtClean="0"/>
              <a:t>SEPARAZIONE DEGLI IDROCARBURI</a:t>
            </a:r>
            <a:endParaRPr lang="it-IT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IL GAS NATURALE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4471990" cy="504351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it-IT" dirty="0"/>
              <a:t>Il gas naturale è un gas incolore e</a:t>
            </a:r>
          </a:p>
          <a:p>
            <a:pPr>
              <a:buNone/>
            </a:pPr>
            <a:r>
              <a:rPr lang="it-IT" dirty="0"/>
              <a:t>inodore, che pesa circa la metà</a:t>
            </a:r>
          </a:p>
          <a:p>
            <a:pPr>
              <a:buNone/>
            </a:pPr>
            <a:r>
              <a:rPr lang="it-IT" dirty="0"/>
              <a:t>dell’aria</a:t>
            </a:r>
            <a:r>
              <a:rPr lang="it-IT" dirty="0" smtClean="0"/>
              <a:t>.</a:t>
            </a:r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dirty="0"/>
              <a:t>Esso è formato da metano per il</a:t>
            </a:r>
          </a:p>
          <a:p>
            <a:pPr>
              <a:buNone/>
            </a:pPr>
            <a:r>
              <a:rPr lang="it-IT" dirty="0"/>
              <a:t>99% nei gas più puri, per il 90% nei</a:t>
            </a:r>
          </a:p>
          <a:p>
            <a:pPr>
              <a:buNone/>
            </a:pPr>
            <a:r>
              <a:rPr lang="it-IT" dirty="0"/>
              <a:t>meno puri</a:t>
            </a:r>
            <a:r>
              <a:rPr lang="it-IT" dirty="0" smtClean="0"/>
              <a:t>.</a:t>
            </a:r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dirty="0"/>
              <a:t>Il passaggio allo stato liquido</a:t>
            </a:r>
          </a:p>
          <a:p>
            <a:pPr>
              <a:buNone/>
            </a:pPr>
            <a:r>
              <a:rPr lang="it-IT" dirty="0"/>
              <a:t>avviene diminuendo la temperatura</a:t>
            </a:r>
          </a:p>
          <a:p>
            <a:pPr>
              <a:buNone/>
            </a:pPr>
            <a:r>
              <a:rPr lang="it-IT" dirty="0"/>
              <a:t>o aumentando la pressione.</a:t>
            </a:r>
          </a:p>
          <a:p>
            <a:pPr>
              <a:buNone/>
            </a:pPr>
            <a:r>
              <a:rPr lang="it-IT" dirty="0"/>
              <a:t>Il butano e il propano sono invece</a:t>
            </a:r>
          </a:p>
          <a:p>
            <a:pPr>
              <a:buNone/>
            </a:pPr>
            <a:r>
              <a:rPr lang="it-IT" dirty="0"/>
              <a:t>“gas di raffineria”.</a:t>
            </a:r>
          </a:p>
        </p:txBody>
      </p:sp>
      <p:pic>
        <p:nvPicPr>
          <p:cNvPr id="21506" name="Picture 2" descr="Gas naturale | Enciclopedia dell'Economia Wiki | Fando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2066" y="2000240"/>
            <a:ext cx="3810027" cy="28575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UTILIZZI DEL GAS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b="1" dirty="0"/>
              <a:t>Residenza: </a:t>
            </a:r>
            <a:r>
              <a:rPr lang="it-IT" dirty="0"/>
              <a:t>gli impieghi domestici del gas sono il riscaldamento </a:t>
            </a:r>
            <a:r>
              <a:rPr lang="it-IT" dirty="0" smtClean="0"/>
              <a:t>degli ambienti</a:t>
            </a:r>
            <a:r>
              <a:rPr lang="it-IT" dirty="0"/>
              <a:t>, la cottura dei cibi e la produzione di acqua calda.</a:t>
            </a:r>
          </a:p>
          <a:p>
            <a:r>
              <a:rPr lang="it-IT" b="1" dirty="0"/>
              <a:t>Industria: </a:t>
            </a:r>
            <a:r>
              <a:rPr lang="it-IT" dirty="0"/>
              <a:t>industrie e laboratori artigiani usano il gas naturale </a:t>
            </a:r>
            <a:r>
              <a:rPr lang="it-IT" dirty="0" smtClean="0"/>
              <a:t>come combustibile </a:t>
            </a:r>
            <a:r>
              <a:rPr lang="it-IT" dirty="0"/>
              <a:t>nei forni per la cottura di ceramiche, per la fusione del vetro, </a:t>
            </a:r>
            <a:r>
              <a:rPr lang="it-IT" dirty="0" smtClean="0"/>
              <a:t>per la </a:t>
            </a:r>
            <a:r>
              <a:rPr lang="it-IT" dirty="0"/>
              <a:t>produzione del cemento.</a:t>
            </a:r>
          </a:p>
          <a:p>
            <a:r>
              <a:rPr lang="it-IT" b="1" dirty="0"/>
              <a:t>Autotrazione: il gas GNL (gas naturale liquefatto) </a:t>
            </a:r>
            <a:r>
              <a:rPr lang="it-IT" dirty="0"/>
              <a:t>è usato sempre più </a:t>
            </a:r>
            <a:r>
              <a:rPr lang="it-IT" dirty="0" smtClean="0"/>
              <a:t>come combustibile </a:t>
            </a:r>
            <a:r>
              <a:rPr lang="it-IT" dirty="0"/>
              <a:t>per autoveicoli.</a:t>
            </a:r>
          </a:p>
          <a:p>
            <a:r>
              <a:rPr lang="it-IT" b="1" dirty="0"/>
              <a:t>Materia prima: </a:t>
            </a:r>
            <a:r>
              <a:rPr lang="it-IT" dirty="0"/>
              <a:t>molte industrie chimiche usano il gas come materia </a:t>
            </a:r>
            <a:r>
              <a:rPr lang="it-IT" dirty="0" smtClean="0"/>
              <a:t>prima per </a:t>
            </a:r>
            <a:r>
              <a:rPr lang="it-IT" dirty="0"/>
              <a:t>ricavare gomme sintetiche, fertilizzanti, plastiche di ogni tipo.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GAS NATURALE E </a:t>
            </a:r>
            <a:r>
              <a:rPr lang="it-IT" dirty="0" smtClean="0"/>
              <a:t>AMBIENTE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6472254" cy="4525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it-IT" b="1" dirty="0"/>
              <a:t>Il metano </a:t>
            </a:r>
            <a:r>
              <a:rPr lang="it-IT" dirty="0"/>
              <a:t>è il combustibile fossile meno</a:t>
            </a:r>
          </a:p>
          <a:p>
            <a:pPr>
              <a:buNone/>
            </a:pPr>
            <a:r>
              <a:rPr lang="it-IT" dirty="0"/>
              <a:t>inquinante perché i prodotti della combustione</a:t>
            </a:r>
          </a:p>
          <a:p>
            <a:pPr>
              <a:buNone/>
            </a:pPr>
            <a:r>
              <a:rPr lang="it-IT" dirty="0"/>
              <a:t>sono </a:t>
            </a:r>
            <a:r>
              <a:rPr lang="it-IT" b="1" dirty="0"/>
              <a:t>anidride carbonica </a:t>
            </a:r>
            <a:r>
              <a:rPr lang="it-IT" dirty="0"/>
              <a:t>e </a:t>
            </a:r>
            <a:r>
              <a:rPr lang="it-IT" b="1" dirty="0"/>
              <a:t>vapore acqueo </a:t>
            </a:r>
            <a:r>
              <a:rPr lang="it-IT" dirty="0"/>
              <a:t>e non</a:t>
            </a:r>
          </a:p>
          <a:p>
            <a:pPr>
              <a:buNone/>
            </a:pPr>
            <a:r>
              <a:rPr lang="it-IT" dirty="0"/>
              <a:t>ci sono residui solidi.</a:t>
            </a:r>
          </a:p>
          <a:p>
            <a:pPr>
              <a:buNone/>
            </a:pPr>
            <a:r>
              <a:rPr lang="it-IT" dirty="0"/>
              <a:t>La sua combustione produce pochissimo ossido</a:t>
            </a:r>
          </a:p>
          <a:p>
            <a:pPr>
              <a:buNone/>
            </a:pPr>
            <a:r>
              <a:rPr lang="it-IT" dirty="0"/>
              <a:t>di carbonio e quasi nessuna polvere.</a:t>
            </a:r>
          </a:p>
          <a:p>
            <a:pPr>
              <a:buNone/>
            </a:pPr>
            <a:r>
              <a:rPr lang="it-IT" b="1" dirty="0"/>
              <a:t>La combustione del metano, comunque, non</a:t>
            </a:r>
          </a:p>
          <a:p>
            <a:pPr>
              <a:buNone/>
            </a:pPr>
            <a:r>
              <a:rPr lang="it-IT" b="1" dirty="0"/>
              <a:t>è del tutto pulita perché produce 190 g di</a:t>
            </a:r>
          </a:p>
          <a:p>
            <a:pPr>
              <a:buNone/>
            </a:pPr>
            <a:r>
              <a:rPr lang="it-IT" b="1" dirty="0" smtClean="0"/>
              <a:t>anidride </a:t>
            </a:r>
            <a:r>
              <a:rPr lang="it-IT" b="1" dirty="0"/>
              <a:t>carbonica per KW</a:t>
            </a:r>
            <a:r>
              <a:rPr lang="it-IT" b="1" dirty="0" smtClean="0"/>
              <a:t>.</a:t>
            </a:r>
          </a:p>
          <a:p>
            <a:pPr>
              <a:buNone/>
            </a:pPr>
            <a:endParaRPr lang="it-IT" b="1" dirty="0" smtClean="0"/>
          </a:p>
          <a:p>
            <a:pPr>
              <a:buNone/>
            </a:pPr>
            <a:r>
              <a:rPr lang="it-IT" dirty="0"/>
              <a:t>Inquinamento </a:t>
            </a:r>
            <a:r>
              <a:rPr lang="it-IT" dirty="0" smtClean="0"/>
              <a:t>dell’aria:</a:t>
            </a:r>
            <a:endParaRPr lang="it-IT" dirty="0"/>
          </a:p>
          <a:p>
            <a:pPr>
              <a:buNone/>
            </a:pPr>
            <a:r>
              <a:rPr lang="it-IT" dirty="0"/>
              <a:t>• Smog in città</a:t>
            </a:r>
          </a:p>
          <a:p>
            <a:pPr>
              <a:buNone/>
            </a:pPr>
            <a:r>
              <a:rPr lang="it-IT" dirty="0"/>
              <a:t>• Piogge acide e buco nell’ozono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SISTEMA ENERGETICO GLOBALE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4043362" cy="4525963"/>
          </a:xfrm>
        </p:spPr>
        <p:txBody>
          <a:bodyPr>
            <a:normAutofit/>
          </a:bodyPr>
          <a:lstStyle/>
          <a:p>
            <a:r>
              <a:rPr lang="it-IT" dirty="0"/>
              <a:t>Oggi il sistema energetico </a:t>
            </a:r>
            <a:r>
              <a:rPr lang="it-IT" dirty="0" smtClean="0"/>
              <a:t>mondiale è </a:t>
            </a:r>
            <a:r>
              <a:rPr lang="it-IT" dirty="0"/>
              <a:t>basato sulle fonti di origine fossile</a:t>
            </a:r>
            <a:r>
              <a:rPr lang="it-IT" dirty="0" smtClean="0"/>
              <a:t>:</a:t>
            </a:r>
          </a:p>
          <a:p>
            <a:endParaRPr lang="it-IT" dirty="0"/>
          </a:p>
          <a:p>
            <a:r>
              <a:rPr lang="it-IT" dirty="0"/>
              <a:t>- </a:t>
            </a:r>
            <a:r>
              <a:rPr lang="it-IT" i="1" dirty="0"/>
              <a:t>petrolio (</a:t>
            </a:r>
            <a:r>
              <a:rPr lang="it-IT" i="1" dirty="0" smtClean="0"/>
              <a:t>33%);</a:t>
            </a:r>
            <a:endParaRPr lang="it-IT" i="1" dirty="0"/>
          </a:p>
          <a:p>
            <a:r>
              <a:rPr lang="it-IT" dirty="0"/>
              <a:t>- </a:t>
            </a:r>
            <a:r>
              <a:rPr lang="it-IT" i="1" dirty="0"/>
              <a:t>carbone (</a:t>
            </a:r>
            <a:r>
              <a:rPr lang="it-IT" i="1" dirty="0" smtClean="0"/>
              <a:t>28%);</a:t>
            </a:r>
            <a:endParaRPr lang="it-IT" i="1" dirty="0"/>
          </a:p>
          <a:p>
            <a:r>
              <a:rPr lang="it-IT" dirty="0"/>
              <a:t>- </a:t>
            </a:r>
            <a:r>
              <a:rPr lang="it-IT" i="1" dirty="0"/>
              <a:t>gas naturale (24%).</a:t>
            </a:r>
            <a:endParaRPr lang="it-IT" dirty="0"/>
          </a:p>
        </p:txBody>
      </p:sp>
      <p:pic>
        <p:nvPicPr>
          <p:cNvPr id="22532" name="Picture 4" descr="https://rienergia.staffettaonline.com/mediafiles/media/Numero_121/Car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75872" y="2000240"/>
            <a:ext cx="4868128" cy="29289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DOVE SI TROVA IL PETROLIO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1"/>
            <a:ext cx="8401080" cy="2471742"/>
          </a:xfrm>
        </p:spPr>
        <p:txBody>
          <a:bodyPr>
            <a:normAutofit fontScale="70000" lnSpcReduction="20000"/>
          </a:bodyPr>
          <a:lstStyle/>
          <a:p>
            <a:pPr marL="0">
              <a:spcBef>
                <a:spcPts val="0"/>
              </a:spcBef>
              <a:buNone/>
            </a:pPr>
            <a:r>
              <a:rPr lang="it-IT" dirty="0"/>
              <a:t>Le riserve di petrolio si trovano nel sottosuolo di poche aree geografiche </a:t>
            </a:r>
            <a:r>
              <a:rPr lang="it-IT" dirty="0" smtClean="0"/>
              <a:t>e di </a:t>
            </a:r>
            <a:r>
              <a:rPr lang="it-IT" dirty="0"/>
              <a:t>pochi paesi:</a:t>
            </a:r>
          </a:p>
          <a:p>
            <a:pPr marL="0">
              <a:spcBef>
                <a:spcPts val="0"/>
              </a:spcBef>
              <a:buNone/>
            </a:pPr>
            <a:r>
              <a:rPr lang="it-IT" dirty="0"/>
              <a:t>- il </a:t>
            </a:r>
            <a:r>
              <a:rPr lang="it-IT" i="1" dirty="0"/>
              <a:t>Medio Oriente possiede più della metà delle riserve (l’Arabia Saudita è</a:t>
            </a:r>
          </a:p>
          <a:p>
            <a:pPr marL="0">
              <a:spcBef>
                <a:spcPts val="0"/>
              </a:spcBef>
              <a:buNone/>
            </a:pPr>
            <a:r>
              <a:rPr lang="it-IT" dirty="0"/>
              <a:t>la prima produttrice in assoluto);</a:t>
            </a:r>
          </a:p>
          <a:p>
            <a:pPr marL="0">
              <a:spcBef>
                <a:spcPts val="0"/>
              </a:spcBef>
              <a:buNone/>
            </a:pPr>
            <a:r>
              <a:rPr lang="it-IT" dirty="0"/>
              <a:t>- Paesi industriali come Russia, Canada, Stati Uniti, Norvegia ecc. hanno</a:t>
            </a:r>
          </a:p>
          <a:p>
            <a:pPr marL="0">
              <a:spcBef>
                <a:spcPts val="0"/>
              </a:spcBef>
              <a:buNone/>
            </a:pPr>
            <a:r>
              <a:rPr lang="it-IT" dirty="0"/>
              <a:t>riserve inferiori che finiranno presto.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3500438"/>
            <a:ext cx="4263111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DOVE SI TROVA IL GAS NATURALE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/>
          </a:bodyPr>
          <a:lstStyle/>
          <a:p>
            <a:pPr marL="0">
              <a:spcBef>
                <a:spcPts val="0"/>
              </a:spcBef>
              <a:buNone/>
            </a:pPr>
            <a:r>
              <a:rPr lang="it-IT" b="1" dirty="0"/>
              <a:t>Gas naturale</a:t>
            </a:r>
          </a:p>
          <a:p>
            <a:pPr marL="0">
              <a:spcBef>
                <a:spcPts val="0"/>
              </a:spcBef>
              <a:buNone/>
            </a:pPr>
            <a:r>
              <a:rPr lang="it-IT" dirty="0"/>
              <a:t>Le riserve di gas naturale sono</a:t>
            </a:r>
          </a:p>
          <a:p>
            <a:pPr marL="0">
              <a:spcBef>
                <a:spcPts val="0"/>
              </a:spcBef>
              <a:buNone/>
            </a:pPr>
            <a:r>
              <a:rPr lang="it-IT" dirty="0"/>
              <a:t>localizzate per 2/3 in due sole aree</a:t>
            </a:r>
          </a:p>
          <a:p>
            <a:pPr marL="0">
              <a:spcBef>
                <a:spcPts val="0"/>
              </a:spcBef>
              <a:buNone/>
            </a:pPr>
            <a:r>
              <a:rPr lang="it-IT" dirty="0"/>
              <a:t>geografiche: il Medio Oriente (più</a:t>
            </a:r>
          </a:p>
          <a:p>
            <a:pPr marL="0">
              <a:spcBef>
                <a:spcPts val="0"/>
              </a:spcBef>
              <a:buNone/>
            </a:pPr>
            <a:r>
              <a:rPr lang="it-IT" dirty="0"/>
              <a:t>del 40%), la Russia (24%).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4810" y="2214554"/>
            <a:ext cx="4409787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IL CARBONE</a:t>
            </a:r>
            <a:endParaRPr lang="it-IT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643050"/>
            <a:ext cx="8038838" cy="4231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ORIGINE DEL CARBONE</a:t>
            </a:r>
            <a:endParaRPr lang="it-IT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27979" y="1600200"/>
            <a:ext cx="7688042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IL CARBONE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 smtClean="0"/>
              <a:t>È la principale fonte di idrocarburi aromatici</a:t>
            </a:r>
          </a:p>
          <a:p>
            <a:r>
              <a:rPr lang="it-IT" dirty="0" smtClean="0"/>
              <a:t>Si è formato per trasformazione batterica di sostanze vegetali.</a:t>
            </a:r>
          </a:p>
          <a:p>
            <a:r>
              <a:rPr lang="it-IT" dirty="0" smtClean="0"/>
              <a:t>Si distingue per abbondanza </a:t>
            </a:r>
            <a:r>
              <a:rPr lang="it-IT" smtClean="0"/>
              <a:t>di carbonio </a:t>
            </a:r>
            <a:r>
              <a:rPr lang="it-IT" dirty="0" smtClean="0"/>
              <a:t>in:</a:t>
            </a:r>
          </a:p>
          <a:p>
            <a:pPr>
              <a:buNone/>
            </a:pPr>
            <a:r>
              <a:rPr lang="it-IT" dirty="0" smtClean="0"/>
              <a:t>TORBA</a:t>
            </a:r>
          </a:p>
          <a:p>
            <a:pPr>
              <a:buNone/>
            </a:pPr>
            <a:r>
              <a:rPr lang="it-IT" dirty="0" smtClean="0"/>
              <a:t>LIGNITE</a:t>
            </a:r>
          </a:p>
          <a:p>
            <a:pPr>
              <a:buNone/>
            </a:pPr>
            <a:r>
              <a:rPr lang="it-IT" dirty="0" smtClean="0"/>
              <a:t>LITANTRACE</a:t>
            </a:r>
          </a:p>
          <a:p>
            <a:pPr>
              <a:buNone/>
            </a:pPr>
            <a:r>
              <a:rPr lang="it-IT" dirty="0" smtClean="0"/>
              <a:t>ANTRACITE</a:t>
            </a:r>
            <a:endParaRPr lang="it-IT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TIPI </a:t>
            </a:r>
            <a:r>
              <a:rPr lang="it-IT" dirty="0" err="1" smtClean="0"/>
              <a:t>DI</a:t>
            </a:r>
            <a:r>
              <a:rPr lang="it-IT" dirty="0" smtClean="0"/>
              <a:t> CARBONE</a:t>
            </a:r>
            <a:endParaRPr lang="it-IT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09" y="1571612"/>
            <a:ext cx="4237093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504" y="1500174"/>
            <a:ext cx="3690542" cy="5133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829</Words>
  <Application>Microsoft Office PowerPoint</Application>
  <PresentationFormat>Presentazione su schermo (4:3)</PresentationFormat>
  <Paragraphs>126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19" baseType="lpstr">
      <vt:lpstr>Tema di Office</vt:lpstr>
      <vt:lpstr>GLI IDROCARBURI</vt:lpstr>
      <vt:lpstr>Il PETROLIO</vt:lpstr>
      <vt:lpstr>ORIGINE DEL PETROLIO</vt:lpstr>
      <vt:lpstr>IMPIEGHI DEL PETROLIO</vt:lpstr>
      <vt:lpstr>PETROLIO E AMBIENTE</vt:lpstr>
      <vt:lpstr>RAFFINERIA</vt:lpstr>
      <vt:lpstr>SEPARAZIONE DEGLI IDROCARBURI</vt:lpstr>
      <vt:lpstr>SEPARAZIONE DEGLI IDROCARBURI</vt:lpstr>
      <vt:lpstr>IL GAS NATURALE</vt:lpstr>
      <vt:lpstr>UTILIZZI DEL GAS</vt:lpstr>
      <vt:lpstr>GAS NATURALE E AMBIENTE</vt:lpstr>
      <vt:lpstr>SISTEMA ENERGETICO GLOBALE</vt:lpstr>
      <vt:lpstr>DOVE SI TROVA IL PETROLIO</vt:lpstr>
      <vt:lpstr>DOVE SI TROVA IL GAS NATURALE</vt:lpstr>
      <vt:lpstr>IL CARBONE</vt:lpstr>
      <vt:lpstr>ORIGINE DEL CARBONE</vt:lpstr>
      <vt:lpstr>IL CARBONE</vt:lpstr>
      <vt:lpstr>TIPI DI CARBONE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Gli idrocarburi</dc:title>
  <dc:creator>Utente</dc:creator>
  <cp:lastModifiedBy>Utente</cp:lastModifiedBy>
  <cp:revision>13</cp:revision>
  <dcterms:created xsi:type="dcterms:W3CDTF">2020-10-19T12:36:11Z</dcterms:created>
  <dcterms:modified xsi:type="dcterms:W3CDTF">2020-10-30T19:21:29Z</dcterms:modified>
</cp:coreProperties>
</file>