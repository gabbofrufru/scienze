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61E3A-90AE-4A53-8FD8-AB3FD13A1BAE}" type="datetimeFigureOut">
              <a:rPr lang="it-IT" smtClean="0"/>
              <a:t>20/10/2020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3D26B-7715-42BC-A402-294FA26D7575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Idrocarburi aromatici. Il benzene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86320"/>
          </a:xfrm>
        </p:spPr>
        <p:txBody>
          <a:bodyPr>
            <a:normAutofit/>
          </a:bodyPr>
          <a:lstStyle/>
          <a:p>
            <a:r>
              <a:rPr lang="it-IT" sz="2000" dirty="0" smtClean="0"/>
              <a:t>Sono idrocarburi le cui molecole, a struttura ciclica, presentano una particolare distribuzione della nuvola elettronica, che conferisce loro tipiche proprietà.</a:t>
            </a:r>
          </a:p>
          <a:p>
            <a:r>
              <a:rPr lang="it-IT" sz="2000" dirty="0" smtClean="0"/>
              <a:t>Il più semplice degli idrocarburi aromatici è il benzene, la cui formula bruta C</a:t>
            </a:r>
            <a:r>
              <a:rPr lang="it-IT" sz="2000" baseline="-25000" dirty="0" smtClean="0"/>
              <a:t>6</a:t>
            </a:r>
            <a:r>
              <a:rPr lang="it-IT" sz="2000" dirty="0" smtClean="0"/>
              <a:t>H</a:t>
            </a:r>
            <a:r>
              <a:rPr lang="it-IT" sz="2000" baseline="-25000" dirty="0" smtClean="0"/>
              <a:t>6</a:t>
            </a:r>
            <a:r>
              <a:rPr lang="it-IT" sz="2000" dirty="0" smtClean="0"/>
              <a:t> corrisponde a quella di un composto insaturo a tre atomi di carbonio con tre doppi legami.</a:t>
            </a:r>
            <a:r>
              <a:rPr lang="it-IT" sz="2000" baseline="-25000" dirty="0" smtClean="0"/>
              <a:t> </a:t>
            </a:r>
          </a:p>
          <a:p>
            <a:r>
              <a:rPr lang="it-IT" sz="2000" dirty="0" smtClean="0"/>
              <a:t>Il benzene però non ha le proprietà degli alcheni.</a:t>
            </a:r>
          </a:p>
          <a:p>
            <a:pPr>
              <a:buNone/>
            </a:pPr>
            <a:endParaRPr lang="it-IT" sz="2000" dirty="0" smtClean="0"/>
          </a:p>
        </p:txBody>
      </p:sp>
      <p:pic>
        <p:nvPicPr>
          <p:cNvPr id="1026" name="Picture 2" descr="Benzene: fonti e effetti sulla salute - ISSalu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1785926"/>
            <a:ext cx="3357585" cy="33575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Idrocarburi aromatici. Il benzene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428736"/>
            <a:ext cx="4038600" cy="5143536"/>
          </a:xfrm>
        </p:spPr>
        <p:txBody>
          <a:bodyPr>
            <a:normAutofit fontScale="77500" lnSpcReduction="20000"/>
          </a:bodyPr>
          <a:lstStyle/>
          <a:p>
            <a:r>
              <a:rPr lang="it-IT" dirty="0" smtClean="0"/>
              <a:t>La sua struttura è planare, costituita da un esagono regolare, ai cui vertici vi sono atomi di carboni, legati ciascuno ad un atomo di idrogeno.</a:t>
            </a:r>
          </a:p>
          <a:p>
            <a:endParaRPr lang="it-IT" dirty="0" smtClean="0"/>
          </a:p>
          <a:p>
            <a:r>
              <a:rPr lang="it-IT" dirty="0" smtClean="0"/>
              <a:t>I legami tra gli atomi di carbonio non sono, però, alternativamente singolo e doppi, ma mostrano tutti uguali caratteristiche.</a:t>
            </a:r>
          </a:p>
          <a:p>
            <a:endParaRPr lang="it-IT" dirty="0" smtClean="0"/>
          </a:p>
          <a:p>
            <a:r>
              <a:rPr lang="it-IT" dirty="0" smtClean="0"/>
              <a:t>Hanno una lunghezza sempre uguale a 1,40 A intermedia tra legame semplice e doppio.</a:t>
            </a:r>
          </a:p>
        </p:txBody>
      </p:sp>
      <p:pic>
        <p:nvPicPr>
          <p:cNvPr id="15362" name="Picture 2" descr="Differenza tra borazina e benzene / Chimica organica | La differenza tra  oggetti simili e termini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1500174"/>
            <a:ext cx="4592997" cy="2500330"/>
          </a:xfrm>
          <a:prstGeom prst="rect">
            <a:avLst/>
          </a:prstGeom>
          <a:noFill/>
        </p:spPr>
      </p:pic>
      <p:pic>
        <p:nvPicPr>
          <p:cNvPr id="15364" name="Picture 4" descr="Benzene - Wikiped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4929198"/>
            <a:ext cx="3295650" cy="7810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benzene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42910" y="1600200"/>
            <a:ext cx="8001056" cy="4525963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/>
              <a:t>Secondo la teoria della risonanza, la molecola di benzene è un </a:t>
            </a:r>
            <a:r>
              <a:rPr lang="it-IT" b="1" dirty="0"/>
              <a:t>ibrido di risonanza </a:t>
            </a:r>
            <a:r>
              <a:rPr lang="it-IT" dirty="0"/>
              <a:t>delle due strutture di </a:t>
            </a:r>
            <a:r>
              <a:rPr lang="it-IT" dirty="0" err="1"/>
              <a:t>Kekulé</a:t>
            </a:r>
            <a:r>
              <a:rPr lang="it-IT" dirty="0"/>
              <a:t> (</a:t>
            </a:r>
            <a:r>
              <a:rPr lang="it-IT" b="1" dirty="0">
                <a:solidFill>
                  <a:schemeClr val="bg1"/>
                </a:solidFill>
                <a:highlight>
                  <a:srgbClr val="FF0000"/>
                </a:highlight>
              </a:rPr>
              <a:t>A</a:t>
            </a:r>
            <a:r>
              <a:rPr lang="it-IT" dirty="0"/>
              <a:t>)</a:t>
            </a:r>
          </a:p>
          <a:p>
            <a:pPr>
              <a:defRPr/>
            </a:pPr>
            <a:r>
              <a:rPr lang="it-IT" dirty="0"/>
              <a:t>La rappresentazione </a:t>
            </a:r>
            <a:r>
              <a:rPr lang="it-IT" b="1" dirty="0">
                <a:solidFill>
                  <a:schemeClr val="bg1"/>
                </a:solidFill>
                <a:highlight>
                  <a:srgbClr val="FF0000"/>
                </a:highlight>
              </a:rPr>
              <a:t>B</a:t>
            </a:r>
            <a:r>
              <a:rPr lang="it-IT" b="1" dirty="0"/>
              <a:t> </a:t>
            </a:r>
            <a:r>
              <a:rPr lang="it-IT" dirty="0"/>
              <a:t>invece è la struttura del benzene secondo la </a:t>
            </a:r>
            <a:r>
              <a:rPr lang="it-IT" b="1" dirty="0"/>
              <a:t>teoria degli orbitali molecolari</a:t>
            </a:r>
          </a:p>
          <a:p>
            <a:pPr>
              <a:defRPr/>
            </a:pPr>
            <a:endParaRPr lang="it-IT" altLang="it-IT" b="1" dirty="0"/>
          </a:p>
          <a:p>
            <a:pPr>
              <a:defRPr/>
            </a:pPr>
            <a:endParaRPr lang="it-IT" altLang="it-IT" b="1" dirty="0"/>
          </a:p>
          <a:p>
            <a:pPr>
              <a:defRPr/>
            </a:pPr>
            <a:endParaRPr lang="it-IT" altLang="it-IT" b="1" dirty="0"/>
          </a:p>
          <a:p>
            <a:pPr>
              <a:defRPr/>
            </a:pPr>
            <a:endParaRPr lang="it-IT" altLang="it-IT" b="1" dirty="0"/>
          </a:p>
          <a:p>
            <a:pPr>
              <a:defRPr/>
            </a:pPr>
            <a:endParaRPr lang="it-IT" altLang="it-IT" b="1" dirty="0"/>
          </a:p>
          <a:p>
            <a:pPr marL="0" indent="0">
              <a:buFontTx/>
              <a:buNone/>
              <a:defRPr/>
            </a:pPr>
            <a:r>
              <a:rPr lang="it-IT" dirty="0"/>
              <a:t>Il cerchio interno all’esagono indica che tutti i legami carbonio-carbonio sono tra loro equivalenti.</a:t>
            </a:r>
            <a:endParaRPr lang="it-IT" altLang="it-IT" dirty="0"/>
          </a:p>
          <a:p>
            <a:endParaRPr lang="it-IT" dirty="0"/>
          </a:p>
        </p:txBody>
      </p:sp>
      <p:pic>
        <p:nvPicPr>
          <p:cNvPr id="5" name="Immagine 2" descr="Immagine che contiene accessorio, fotografia, baseball, tenendo&#10;&#10;Descrizione generata automaticamen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3429000"/>
            <a:ext cx="4987925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571480"/>
            <a:ext cx="6929485" cy="6009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it-IT" dirty="0" smtClean="0"/>
              <a:t>La nomenclatura dei composti aromatici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57626"/>
          </a:xfrm>
        </p:spPr>
        <p:txBody>
          <a:bodyPr>
            <a:normAutofit fontScale="85000" lnSpcReduction="10000"/>
          </a:bodyPr>
          <a:lstStyle/>
          <a:p>
            <a:pPr marL="0" indent="0">
              <a:buFontTx/>
              <a:buNone/>
            </a:pPr>
            <a:r>
              <a:rPr lang="it-IT" altLang="it-IT" sz="3000" dirty="0" smtClean="0"/>
              <a:t>Secondo la recente nomenclatura, gli idrocarburi aromatici sono anche detti </a:t>
            </a:r>
            <a:r>
              <a:rPr lang="it-IT" altLang="it-IT" sz="3000" b="1" dirty="0" smtClean="0"/>
              <a:t>areni</a:t>
            </a:r>
            <a:r>
              <a:rPr lang="it-IT" altLang="it-IT" sz="3000" dirty="0" smtClean="0"/>
              <a:t>.</a:t>
            </a:r>
          </a:p>
          <a:p>
            <a:pPr marL="0" indent="0">
              <a:buFontTx/>
              <a:buNone/>
            </a:pPr>
            <a:endParaRPr lang="it-IT" altLang="it-IT" sz="3000" dirty="0" smtClean="0"/>
          </a:p>
          <a:p>
            <a:pPr marL="0" indent="0">
              <a:buFontTx/>
              <a:buNone/>
            </a:pPr>
            <a:r>
              <a:rPr lang="it-IT" altLang="it-IT" sz="3000" dirty="0" smtClean="0"/>
              <a:t>I derivati del benzene si ottengono sostituendo uno o più atomi di idrogeno dell’anello benzenico con un atomo o con un gruppo di atomi diversi.</a:t>
            </a:r>
          </a:p>
          <a:p>
            <a:pPr marL="0" indent="0">
              <a:buFontTx/>
              <a:buNone/>
            </a:pPr>
            <a:endParaRPr lang="it-IT" altLang="it-IT" sz="3000" dirty="0" smtClean="0"/>
          </a:p>
          <a:p>
            <a:pPr marL="0" indent="0">
              <a:buFontTx/>
              <a:buNone/>
            </a:pPr>
            <a:r>
              <a:rPr lang="it-IT" altLang="it-IT" sz="3000" dirty="0" smtClean="0"/>
              <a:t>Per assegnare il nome ai </a:t>
            </a:r>
            <a:r>
              <a:rPr lang="it-IT" altLang="it-IT" sz="3000" b="1" dirty="0" smtClean="0"/>
              <a:t>benzeni </a:t>
            </a:r>
            <a:r>
              <a:rPr lang="it-IT" altLang="it-IT" sz="3000" b="1" dirty="0" err="1" smtClean="0"/>
              <a:t>monosostituiti</a:t>
            </a:r>
            <a:r>
              <a:rPr lang="it-IT" altLang="it-IT" sz="3000" b="1" dirty="0" smtClean="0"/>
              <a:t> </a:t>
            </a:r>
            <a:r>
              <a:rPr lang="it-IT" altLang="it-IT" sz="3000" dirty="0" smtClean="0"/>
              <a:t>si aggiunge il nome del sostituente come prefisso alla parola benzene.</a:t>
            </a:r>
          </a:p>
          <a:p>
            <a:endParaRPr lang="it-IT" dirty="0"/>
          </a:p>
        </p:txBody>
      </p:sp>
      <p:pic>
        <p:nvPicPr>
          <p:cNvPr id="4" name="Immagine 3" descr="Immagine che contiene gioco&#10;&#10;Descrizione generata automaticamen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5357826"/>
            <a:ext cx="44767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it-IT" dirty="0" smtClean="0"/>
              <a:t>La nomenclatura dei composti aromatici</a:t>
            </a:r>
            <a:endParaRPr lang="it-IT" dirty="0"/>
          </a:p>
        </p:txBody>
      </p:sp>
      <p:pic>
        <p:nvPicPr>
          <p:cNvPr id="1741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643050"/>
            <a:ext cx="7063756" cy="494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it-IT" dirty="0" smtClean="0"/>
              <a:t>La nomenclatura dei composti aromatici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86187"/>
          </a:xfrm>
        </p:spPr>
        <p:txBody>
          <a:bodyPr>
            <a:normAutofit fontScale="85000" lnSpcReduction="20000"/>
          </a:bodyPr>
          <a:lstStyle/>
          <a:p>
            <a:pPr marL="0" indent="0">
              <a:buFontTx/>
              <a:buNone/>
            </a:pPr>
            <a:r>
              <a:rPr lang="it-IT" altLang="it-IT" dirty="0" smtClean="0"/>
              <a:t>La «fusione» di due o più anelli benzenici genera una classe di composti detti </a:t>
            </a:r>
            <a:r>
              <a:rPr lang="it-IT" altLang="it-IT" b="1" dirty="0" smtClean="0"/>
              <a:t>idrocarburi policiclici aromatici </a:t>
            </a:r>
            <a:r>
              <a:rPr lang="it-IT" altLang="it-IT" dirty="0" smtClean="0"/>
              <a:t>(IPA).</a:t>
            </a:r>
          </a:p>
          <a:p>
            <a:pPr marL="0" indent="0">
              <a:buFontTx/>
              <a:buNone/>
            </a:pPr>
            <a:endParaRPr lang="it-IT" altLang="it-IT" dirty="0" smtClean="0"/>
          </a:p>
          <a:p>
            <a:pPr marL="0" indent="0">
              <a:buFontTx/>
              <a:buNone/>
            </a:pPr>
            <a:r>
              <a:rPr lang="it-IT" altLang="it-IT" dirty="0" smtClean="0"/>
              <a:t>Il composto formato da due anelli saldati insieme è il </a:t>
            </a:r>
            <a:r>
              <a:rPr lang="it-IT" altLang="it-IT" b="1" dirty="0" smtClean="0"/>
              <a:t>naftalene</a:t>
            </a:r>
            <a:r>
              <a:rPr lang="it-IT" altLang="it-IT" dirty="0" smtClean="0"/>
              <a:t> (C</a:t>
            </a:r>
            <a:r>
              <a:rPr lang="it-IT" altLang="it-IT" baseline="-25000" dirty="0" smtClean="0"/>
              <a:t>10</a:t>
            </a:r>
            <a:r>
              <a:rPr lang="it-IT" altLang="it-IT" dirty="0" smtClean="0"/>
              <a:t>H</a:t>
            </a:r>
            <a:r>
              <a:rPr lang="it-IT" altLang="it-IT" baseline="-25000" dirty="0" smtClean="0"/>
              <a:t>8</a:t>
            </a:r>
            <a:r>
              <a:rPr lang="it-IT" altLang="it-IT" dirty="0" smtClean="0"/>
              <a:t>), che non presenta isomeri. Esistono, invece, due modi diversi per saldare tre anelli (C</a:t>
            </a:r>
            <a:r>
              <a:rPr lang="it-IT" altLang="it-IT" baseline="-25000" dirty="0" smtClean="0"/>
              <a:t>14</a:t>
            </a:r>
            <a:r>
              <a:rPr lang="it-IT" altLang="it-IT" dirty="0" smtClean="0"/>
              <a:t>H</a:t>
            </a:r>
            <a:r>
              <a:rPr lang="it-IT" altLang="it-IT" baseline="-25000" dirty="0" smtClean="0"/>
              <a:t>10</a:t>
            </a:r>
            <a:r>
              <a:rPr lang="it-IT" altLang="it-IT" dirty="0" smtClean="0"/>
              <a:t>); in un caso sono tutti e tre allineati e la molecola si chiama </a:t>
            </a:r>
            <a:r>
              <a:rPr lang="it-IT" altLang="it-IT" b="1" dirty="0" smtClean="0"/>
              <a:t>antracene</a:t>
            </a:r>
            <a:r>
              <a:rPr lang="it-IT" altLang="it-IT" dirty="0" smtClean="0"/>
              <a:t>, mentre nell’altro formano un angolo e si ottiene il </a:t>
            </a:r>
            <a:r>
              <a:rPr lang="it-IT" altLang="it-IT" b="1" dirty="0" smtClean="0"/>
              <a:t>fenantrene</a:t>
            </a:r>
            <a:r>
              <a:rPr lang="it-IT" altLang="it-IT" dirty="0" smtClean="0"/>
              <a:t>.</a:t>
            </a:r>
          </a:p>
          <a:p>
            <a:pPr marL="0" indent="0">
              <a:buFontTx/>
              <a:buNone/>
            </a:pPr>
            <a:endParaRPr lang="it-IT" altLang="it-IT" dirty="0" smtClean="0"/>
          </a:p>
          <a:p>
            <a:endParaRPr lang="it-IT" dirty="0"/>
          </a:p>
        </p:txBody>
      </p:sp>
      <p:pic>
        <p:nvPicPr>
          <p:cNvPr id="4" name="Immagine 2" descr="Immagine che contiene mappa&#10;&#10;Descrizione generata automaticamen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5072074"/>
            <a:ext cx="5500726" cy="1650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352</Words>
  <Application>Microsoft Office PowerPoint</Application>
  <PresentationFormat>Presentazione su schermo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Idrocarburi aromatici. Il benzene</vt:lpstr>
      <vt:lpstr>Idrocarburi aromatici. Il benzene</vt:lpstr>
      <vt:lpstr>Il benzene</vt:lpstr>
      <vt:lpstr>Diapositiva 4</vt:lpstr>
      <vt:lpstr>La nomenclatura dei composti aromatici</vt:lpstr>
      <vt:lpstr>La nomenclatura dei composti aromatici</vt:lpstr>
      <vt:lpstr>La nomenclatura dei composti aromatici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Idrocarburi aromatici. Il benzene</dc:title>
  <dc:creator>Utente</dc:creator>
  <cp:lastModifiedBy>Utente</cp:lastModifiedBy>
  <cp:revision>4</cp:revision>
  <dcterms:created xsi:type="dcterms:W3CDTF">2020-10-20T12:59:10Z</dcterms:created>
  <dcterms:modified xsi:type="dcterms:W3CDTF">2020-10-20T13:32:46Z</dcterms:modified>
</cp:coreProperties>
</file>