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29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2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/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42" name="Google Shape;42;p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/>
          </a:p>
        </p:txBody>
      </p:sp>
      <p:sp>
        <p:nvSpPr>
          <p:cNvPr id="43" name="Google Shape;43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44" name="Google Shape;44;p3:notes"/>
          <p:cNvSpPr txBox="1"/>
          <p:nvPr/>
        </p:nvSpPr>
        <p:spPr>
          <a:xfrm>
            <a:off x="3886200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45" name="Google Shape;45;p3:notes"/>
          <p:cNvSpPr txBox="1"/>
          <p:nvPr/>
        </p:nvSpPr>
        <p:spPr>
          <a:xfrm>
            <a:off x="1143000" y="685800"/>
            <a:ext cx="4573587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912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c87fd2fbf9_0_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55" name="Google Shape;55;gc87fd2fbf9_0_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/>
          </a:p>
        </p:txBody>
      </p:sp>
      <p:sp>
        <p:nvSpPr>
          <p:cNvPr id="56" name="Google Shape;56;gc87fd2fbf9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  <p:sp>
        <p:nvSpPr>
          <p:cNvPr id="57" name="Google Shape;57;gc87fd2fbf9_0_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  <p:sp>
        <p:nvSpPr>
          <p:cNvPr id="58" name="Google Shape;58;gc87fd2fbf9_0_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c87fd2fbf9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c87fd2fb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a609a3ebf_1_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69" name="Google Shape;69;gca609a3ebf_1_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/>
          </a:p>
        </p:txBody>
      </p:sp>
      <p:sp>
        <p:nvSpPr>
          <p:cNvPr id="70" name="Google Shape;70;gca609a3ebf_1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  <p:sp>
        <p:nvSpPr>
          <p:cNvPr id="71" name="Google Shape;71;gca609a3ebf_1_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  <p:sp>
        <p:nvSpPr>
          <p:cNvPr id="72" name="Google Shape;72;gca609a3ebf_1_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ca609a3ebf_1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ca609a3eb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a609a3ebf_1_22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84" name="Google Shape;84;gca609a3ebf_1_22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/>
          </a:p>
        </p:txBody>
      </p:sp>
      <p:sp>
        <p:nvSpPr>
          <p:cNvPr id="85" name="Google Shape;85;gca609a3ebf_1_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86" name="Google Shape;86;gca609a3ebf_1_22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87" name="Google Shape;87;gca609a3ebf_1_22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ca609a3ebf_1_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ca609a3ebf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a609a3ebf_1_45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00" name="Google Shape;100;gca609a3ebf_1_45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/>
          </a:p>
        </p:txBody>
      </p:sp>
      <p:sp>
        <p:nvSpPr>
          <p:cNvPr id="101" name="Google Shape;101;gca609a3ebf_1_4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  <p:sp>
        <p:nvSpPr>
          <p:cNvPr id="102" name="Google Shape;102;gca609a3ebf_1_45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  <p:sp>
        <p:nvSpPr>
          <p:cNvPr id="103" name="Google Shape;103;gca609a3ebf_1_45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ca609a3ebf_1_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ca609a3ebf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a609a3ebf_1_59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15" name="Google Shape;115;gca609a3ebf_1_59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/>
          </a:p>
        </p:txBody>
      </p:sp>
      <p:sp>
        <p:nvSpPr>
          <p:cNvPr id="116" name="Google Shape;116;gca609a3ebf_1_5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  <p:sp>
        <p:nvSpPr>
          <p:cNvPr id="117" name="Google Shape;117;gca609a3ebf_1_59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  <p:sp>
        <p:nvSpPr>
          <p:cNvPr id="118" name="Google Shape;118;gca609a3ebf_1_59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ca609a3ebf_1_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ca609a3ebf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a609a3ebf_1_73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30" name="Google Shape;130;gca609a3ebf_1_73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/>
          </a:p>
        </p:txBody>
      </p:sp>
      <p:sp>
        <p:nvSpPr>
          <p:cNvPr id="131" name="Google Shape;131;gca609a3ebf_1_7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  <p:sp>
        <p:nvSpPr>
          <p:cNvPr id="132" name="Google Shape;132;gca609a3ebf_1_73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  <p:sp>
        <p:nvSpPr>
          <p:cNvPr id="133" name="Google Shape;133;gca609a3ebf_1_73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ca609a3ebf_1_7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ca609a3ebf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/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46" name="Google Shape;146;p11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/>
          </a:p>
        </p:txBody>
      </p:sp>
      <p:sp>
        <p:nvSpPr>
          <p:cNvPr id="147" name="Google Shape;147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  <p:sp>
        <p:nvSpPr>
          <p:cNvPr id="148" name="Google Shape;148;p11:notes"/>
          <p:cNvSpPr txBox="1"/>
          <p:nvPr/>
        </p:nvSpPr>
        <p:spPr>
          <a:xfrm>
            <a:off x="3886200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  <p:sp>
        <p:nvSpPr>
          <p:cNvPr id="149" name="Google Shape;149;p11:notes"/>
          <p:cNvSpPr txBox="1"/>
          <p:nvPr/>
        </p:nvSpPr>
        <p:spPr>
          <a:xfrm>
            <a:off x="1143000" y="685800"/>
            <a:ext cx="4573587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912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a609a3ebf_1_96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61" name="Google Shape;161;gca609a3ebf_1_96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/>
          </a:p>
        </p:txBody>
      </p:sp>
      <p:sp>
        <p:nvSpPr>
          <p:cNvPr id="162" name="Google Shape;162;gca609a3ebf_1_9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  <p:sp>
        <p:nvSpPr>
          <p:cNvPr id="163" name="Google Shape;163;gca609a3ebf_1_96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  <p:sp>
        <p:nvSpPr>
          <p:cNvPr id="164" name="Google Shape;164;gca609a3ebf_1_96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ca609a3ebf_1_9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ca609a3ebf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a609a3ebf_1_109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75" name="Google Shape;175;gca609a3ebf_1_109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/>
          </a:p>
        </p:txBody>
      </p:sp>
      <p:sp>
        <p:nvSpPr>
          <p:cNvPr id="176" name="Google Shape;176;gca609a3ebf_1_10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/>
          </a:p>
        </p:txBody>
      </p:sp>
      <p:sp>
        <p:nvSpPr>
          <p:cNvPr id="177" name="Google Shape;177;gca609a3ebf_1_109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/>
          </a:p>
        </p:txBody>
      </p:sp>
      <p:sp>
        <p:nvSpPr>
          <p:cNvPr id="178" name="Google Shape;178;gca609a3ebf_1_109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ca609a3ebf_1_1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ca609a3ebf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ca609a3ebf_1_125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192" name="Google Shape;192;gca609a3ebf_1_125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/>
          </a:p>
        </p:txBody>
      </p:sp>
      <p:sp>
        <p:nvSpPr>
          <p:cNvPr id="193" name="Google Shape;193;gca609a3ebf_1_1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  <p:sp>
        <p:nvSpPr>
          <p:cNvPr id="194" name="Google Shape;194;gca609a3ebf_1_125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  <p:sp>
        <p:nvSpPr>
          <p:cNvPr id="195" name="Google Shape;195;gca609a3ebf_1_125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ca609a3ebf_1_1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ca609a3ebf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ca609a3ebf_1_139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07" name="Google Shape;207;gca609a3ebf_1_139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/>
          </a:p>
        </p:txBody>
      </p:sp>
      <p:sp>
        <p:nvSpPr>
          <p:cNvPr id="208" name="Google Shape;208;gca609a3ebf_1_1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  <p:sp>
        <p:nvSpPr>
          <p:cNvPr id="209" name="Google Shape;209;gca609a3ebf_1_139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  <p:sp>
        <p:nvSpPr>
          <p:cNvPr id="210" name="Google Shape;210;gca609a3ebf_1_139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ca609a3ebf_1_1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ca609a3ebf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ca609a3ebf_1_152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21" name="Google Shape;221;gca609a3ebf_1_152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/>
          </a:p>
        </p:txBody>
      </p:sp>
      <p:sp>
        <p:nvSpPr>
          <p:cNvPr id="222" name="Google Shape;222;gca609a3ebf_1_15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  <p:sp>
        <p:nvSpPr>
          <p:cNvPr id="223" name="Google Shape;223;gca609a3ebf_1_152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  <p:sp>
        <p:nvSpPr>
          <p:cNvPr id="224" name="Google Shape;224;gca609a3ebf_1_152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ca609a3ebf_1_15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ca609a3ebf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ca609a3ebf_1_168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38" name="Google Shape;238;gca609a3ebf_1_168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/>
          </a:p>
        </p:txBody>
      </p:sp>
      <p:sp>
        <p:nvSpPr>
          <p:cNvPr id="239" name="Google Shape;239;gca609a3ebf_1_16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  <p:sp>
        <p:nvSpPr>
          <p:cNvPr id="240" name="Google Shape;240;gca609a3ebf_1_168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  <p:sp>
        <p:nvSpPr>
          <p:cNvPr id="241" name="Google Shape;241;gca609a3ebf_1_168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ca609a3ebf_1_16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ca609a3ebf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/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53" name="Google Shape;253;p1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/>
          </a:p>
        </p:txBody>
      </p:sp>
      <p:sp>
        <p:nvSpPr>
          <p:cNvPr id="254" name="Google Shape;254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/>
          </a:p>
        </p:txBody>
      </p:sp>
      <p:sp>
        <p:nvSpPr>
          <p:cNvPr id="255" name="Google Shape;255;p14:notes"/>
          <p:cNvSpPr txBox="1"/>
          <p:nvPr/>
        </p:nvSpPr>
        <p:spPr>
          <a:xfrm>
            <a:off x="3886200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/>
          </a:p>
        </p:txBody>
      </p:sp>
      <p:sp>
        <p:nvSpPr>
          <p:cNvPr id="256" name="Google Shape;256;p14:notes"/>
          <p:cNvSpPr txBox="1"/>
          <p:nvPr/>
        </p:nvSpPr>
        <p:spPr>
          <a:xfrm>
            <a:off x="1143000" y="685800"/>
            <a:ext cx="4573587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912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ce211d5fe0_0_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68" name="Google Shape;268;gce211d5fe0_0_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/>
          </a:p>
        </p:txBody>
      </p:sp>
      <p:sp>
        <p:nvSpPr>
          <p:cNvPr id="269" name="Google Shape;269;gce211d5fe0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/>
          </a:p>
        </p:txBody>
      </p:sp>
      <p:sp>
        <p:nvSpPr>
          <p:cNvPr id="270" name="Google Shape;270;gce211d5fe0_0_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/>
          </a:p>
        </p:txBody>
      </p:sp>
      <p:sp>
        <p:nvSpPr>
          <p:cNvPr id="271" name="Google Shape;271;gce211d5fe0_0_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ce211d5fe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ce211d5f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a609a3ebf_1_203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82" name="Google Shape;282;gca609a3ebf_1_203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/>
          </a:p>
        </p:txBody>
      </p:sp>
      <p:sp>
        <p:nvSpPr>
          <p:cNvPr id="283" name="Google Shape;283;gca609a3ebf_1_20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/>
          </a:p>
        </p:txBody>
      </p:sp>
      <p:sp>
        <p:nvSpPr>
          <p:cNvPr id="284" name="Google Shape;284;gca609a3ebf_1_203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/>
          </a:p>
        </p:txBody>
      </p:sp>
      <p:sp>
        <p:nvSpPr>
          <p:cNvPr id="285" name="Google Shape;285;gca609a3ebf_1_203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ca609a3ebf_1_20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ca609a3ebf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ca609a3ebf_1_216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296" name="Google Shape;296;gca609a3ebf_1_216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/>
          </a:p>
        </p:txBody>
      </p:sp>
      <p:sp>
        <p:nvSpPr>
          <p:cNvPr id="297" name="Google Shape;297;gca609a3ebf_1_2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/>
          </a:p>
        </p:txBody>
      </p:sp>
      <p:sp>
        <p:nvSpPr>
          <p:cNvPr id="298" name="Google Shape;298;gca609a3ebf_1_216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/>
          </a:p>
        </p:txBody>
      </p:sp>
      <p:sp>
        <p:nvSpPr>
          <p:cNvPr id="299" name="Google Shape;299;gca609a3ebf_1_216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ca609a3ebf_1_2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ca609a3ebf_1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ca609a3ebf_1_231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312" name="Google Shape;312;gca609a3ebf_1_231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/>
          </a:p>
        </p:txBody>
      </p:sp>
      <p:sp>
        <p:nvSpPr>
          <p:cNvPr id="313" name="Google Shape;313;gca609a3ebf_1_2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/>
          </a:p>
        </p:txBody>
      </p:sp>
      <p:sp>
        <p:nvSpPr>
          <p:cNvPr id="314" name="Google Shape;314;gca609a3ebf_1_231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/>
          </a:p>
        </p:txBody>
      </p:sp>
      <p:sp>
        <p:nvSpPr>
          <p:cNvPr id="315" name="Google Shape;315;gca609a3ebf_1_231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ca609a3ebf_1_2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ca609a3ebf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ca609a3ebf_1_25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326" name="Google Shape;326;gca609a3ebf_1_25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/>
          </a:p>
        </p:txBody>
      </p:sp>
      <p:sp>
        <p:nvSpPr>
          <p:cNvPr id="327" name="Google Shape;327;gca609a3ebf_1_25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/>
          </a:p>
        </p:txBody>
      </p:sp>
      <p:sp>
        <p:nvSpPr>
          <p:cNvPr id="328" name="Google Shape;328;gca609a3ebf_1_25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/>
          </a:p>
        </p:txBody>
      </p:sp>
      <p:sp>
        <p:nvSpPr>
          <p:cNvPr id="329" name="Google Shape;329;gca609a3ebf_1_25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ca609a3ebf_1_2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ca609a3ebf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ca609a3ebf_1_269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346" name="Google Shape;346;gca609a3ebf_1_269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/>
          </a:p>
        </p:txBody>
      </p:sp>
      <p:sp>
        <p:nvSpPr>
          <p:cNvPr id="347" name="Google Shape;347;gca609a3ebf_1_26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  <p:sp>
        <p:nvSpPr>
          <p:cNvPr id="348" name="Google Shape;348;gca609a3ebf_1_269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/>
          </a:p>
        </p:txBody>
      </p:sp>
      <p:sp>
        <p:nvSpPr>
          <p:cNvPr id="349" name="Google Shape;349;gca609a3ebf_1_269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ca609a3ebf_1_2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ca609a3ebf_1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ca609a3ebf_1_286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364" name="Google Shape;364;gca609a3ebf_1_286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/>
          </a:p>
        </p:txBody>
      </p:sp>
      <p:sp>
        <p:nvSpPr>
          <p:cNvPr id="365" name="Google Shape;365;gca609a3ebf_1_28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/>
          </a:p>
        </p:txBody>
      </p:sp>
      <p:sp>
        <p:nvSpPr>
          <p:cNvPr id="366" name="Google Shape;366;gca609a3ebf_1_286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/>
          </a:p>
        </p:txBody>
      </p:sp>
      <p:sp>
        <p:nvSpPr>
          <p:cNvPr id="367" name="Google Shape;367;gca609a3ebf_1_286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ca609a3ebf_1_2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ca609a3ebf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c671ac4737_0_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383" name="Google Shape;383;gc671ac4737_0_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/>
          </a:p>
        </p:txBody>
      </p:sp>
      <p:sp>
        <p:nvSpPr>
          <p:cNvPr id="384" name="Google Shape;384;gc671ac4737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/>
          </a:p>
        </p:txBody>
      </p:sp>
      <p:sp>
        <p:nvSpPr>
          <p:cNvPr id="385" name="Google Shape;385;gc671ac4737_0_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/>
          </a:p>
        </p:txBody>
      </p:sp>
      <p:sp>
        <p:nvSpPr>
          <p:cNvPr id="386" name="Google Shape;386;gc671ac4737_0_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c671ac4737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c671ac47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ce211d5f60_0_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398" name="Google Shape;398;gce211d5f60_0_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/>
          </a:p>
        </p:txBody>
      </p:sp>
      <p:sp>
        <p:nvSpPr>
          <p:cNvPr id="399" name="Google Shape;399;gce211d5f60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/>
          </a:p>
        </p:txBody>
      </p:sp>
      <p:sp>
        <p:nvSpPr>
          <p:cNvPr id="400" name="Google Shape;400;gce211d5f60_0_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/>
          </a:p>
        </p:txBody>
      </p:sp>
      <p:sp>
        <p:nvSpPr>
          <p:cNvPr id="401" name="Google Shape;401;gce211d5f60_0_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ce211d5f6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ce211d5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ce211d5f60_0_15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414" name="Google Shape;414;gce211d5f60_0_15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/>
          </a:p>
        </p:txBody>
      </p:sp>
      <p:sp>
        <p:nvSpPr>
          <p:cNvPr id="415" name="Google Shape;415;gce211d5f60_0_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/>
          </a:p>
        </p:txBody>
      </p:sp>
      <p:sp>
        <p:nvSpPr>
          <p:cNvPr id="416" name="Google Shape;416;gce211d5f60_0_15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/>
          </a:p>
        </p:txBody>
      </p:sp>
      <p:sp>
        <p:nvSpPr>
          <p:cNvPr id="417" name="Google Shape;417;gce211d5f60_0_15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ce211d5f60_0_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ce211d5f6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ce211d5f60_0_30:notes"/>
          <p:cNvSpPr txBox="1"/>
          <p:nvPr/>
        </p:nvSpPr>
        <p:spPr>
          <a:xfrm>
            <a:off x="3884612" y="0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430" name="Google Shape;430;gce211d5f60_0_30:notes"/>
          <p:cNvSpPr txBox="1"/>
          <p:nvPr/>
        </p:nvSpPr>
        <p:spPr>
          <a:xfrm>
            <a:off x="3884612" y="8685212"/>
            <a:ext cx="29703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/>
          </a:p>
        </p:txBody>
      </p:sp>
      <p:sp>
        <p:nvSpPr>
          <p:cNvPr id="431" name="Google Shape;431;gce211d5f60_0_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/>
          </a:p>
        </p:txBody>
      </p:sp>
      <p:sp>
        <p:nvSpPr>
          <p:cNvPr id="432" name="Google Shape;432;gce211d5f60_0_30:notes"/>
          <p:cNvSpPr txBox="1"/>
          <p:nvPr/>
        </p:nvSpPr>
        <p:spPr>
          <a:xfrm>
            <a:off x="3886200" y="8685212"/>
            <a:ext cx="2964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/>
          </a:p>
        </p:txBody>
      </p:sp>
      <p:sp>
        <p:nvSpPr>
          <p:cNvPr id="433" name="Google Shape;433;gce211d5f60_0_30:notes"/>
          <p:cNvSpPr txBox="1"/>
          <p:nvPr/>
        </p:nvSpPr>
        <p:spPr>
          <a:xfrm>
            <a:off x="1143000" y="685800"/>
            <a:ext cx="45735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ce211d5f60_0_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800" cy="4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ce211d5f6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:notes"/>
          <p:cNvSpPr txBox="1"/>
          <p:nvPr/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13/11/11</a:t>
            </a:r>
            <a:endParaRPr/>
          </a:p>
        </p:txBody>
      </p:sp>
      <p:sp>
        <p:nvSpPr>
          <p:cNvPr id="446" name="Google Shape;446;p21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/>
          </a:p>
        </p:txBody>
      </p:sp>
      <p:sp>
        <p:nvSpPr>
          <p:cNvPr id="447" name="Google Shape;447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/>
          </a:p>
        </p:txBody>
      </p:sp>
      <p:sp>
        <p:nvSpPr>
          <p:cNvPr id="448" name="Google Shape;448;p21:notes"/>
          <p:cNvSpPr txBox="1"/>
          <p:nvPr/>
        </p:nvSpPr>
        <p:spPr>
          <a:xfrm>
            <a:off x="3886200" y="8685212"/>
            <a:ext cx="2963862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825" tIns="41025" rIns="78825" bIns="410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</a:pPr>
            <a:fld id="{00000000-1234-1234-1234-123412341234}" type="slidenum">
              <a:rPr lang="en-US" sz="11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/>
          </a:p>
        </p:txBody>
      </p:sp>
      <p:sp>
        <p:nvSpPr>
          <p:cNvPr id="449" name="Google Shape;449;p21:notes"/>
          <p:cNvSpPr txBox="1"/>
          <p:nvPr/>
        </p:nvSpPr>
        <p:spPr>
          <a:xfrm>
            <a:off x="1143000" y="685800"/>
            <a:ext cx="4573587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14912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o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128587"/>
            <a:ext cx="8228012" cy="143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8012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/>
          <p:nvPr/>
        </p:nvSpPr>
        <p:spPr>
          <a:xfrm>
            <a:off x="3124200" y="6354762"/>
            <a:ext cx="28956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/>
        </p:nvSpPr>
        <p:spPr>
          <a:xfrm>
            <a:off x="323850" y="620712"/>
            <a:ext cx="8569325" cy="52101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endParaRPr sz="800" b="0" i="0" u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endParaRPr sz="800" b="0" i="0" u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Capitolo </a:t>
            </a:r>
            <a:r>
              <a:rPr lang="en-US" sz="4000">
                <a:solidFill>
                  <a:srgbClr val="808080"/>
                </a:solidFill>
              </a:rPr>
              <a:t>C</a:t>
            </a:r>
            <a:r>
              <a:rPr lang="en-US" sz="4000" b="0" i="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endParaRPr sz="5400" b="0" i="0" u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0"/>
              <a:buFont typeface="Arial"/>
              <a:buNone/>
            </a:pPr>
            <a:r>
              <a:rPr lang="en-US" sz="8000">
                <a:solidFill>
                  <a:srgbClr val="808080"/>
                </a:solidFill>
              </a:rPr>
              <a:t>La chimica organica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/>
        </p:nvSpPr>
        <p:spPr>
          <a:xfrm>
            <a:off x="323850" y="404812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Temi del capitolo</a:t>
            </a:r>
            <a:endParaRPr/>
          </a:p>
        </p:txBody>
      </p:sp>
      <p:pic>
        <p:nvPicPr>
          <p:cNvPr id="66" name="Google Shape;6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5612"/>
            <a:ext cx="8839203" cy="3700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/>
        </p:nvSpPr>
        <p:spPr>
          <a:xfrm>
            <a:off x="323850" y="1382712"/>
            <a:ext cx="8461500" cy="39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 composti organici sono composti del carbonio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chimica organica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è l’ambito specifico che studia la chimica del carbonio (C).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 composti del carbonio sono costituiti principalmente da sei elementi: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carbonio, idrogeno, ossigeno, azoto, fosforo e zolfo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Si distinguono 3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grandi gruppi  →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600" y="4332787"/>
            <a:ext cx="4136381" cy="153933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>
                <a:solidFill>
                  <a:srgbClr val="FF0000"/>
                </a:solidFill>
              </a:rPr>
              <a:t>I composti del carbonio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>
                <a:solidFill>
                  <a:srgbClr val="FF0000"/>
                </a:solidFill>
              </a:rPr>
              <a:t>I composti del carbonio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2</a:t>
            </a:r>
            <a:endParaRPr/>
          </a:p>
        </p:txBody>
      </p:sp>
      <p:pic>
        <p:nvPicPr>
          <p:cNvPr id="92" name="Google Shape;9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5900" y="4216512"/>
            <a:ext cx="3937400" cy="225808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/>
          <p:nvPr/>
        </p:nvSpPr>
        <p:spPr>
          <a:xfrm>
            <a:off x="323850" y="1230312"/>
            <a:ext cx="8461500" cy="28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proprietà dell’atomo di carbonio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highlight>
                  <a:srgbClr val="FFFFFF"/>
                </a:highlight>
              </a:rPr>
              <a:t>È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un elemento in grado di formare una enorme varietà di molecole. Questa versatilità è dovuta a cinque aspetti: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AutoNum type="arabicPeriod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forma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quattro legami covalenti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dalla combinazione dell’orbitale </a:t>
            </a:r>
            <a:r>
              <a:rPr lang="en-US" sz="2200" i="1">
                <a:solidFill>
                  <a:srgbClr val="202122"/>
                </a:solidFill>
                <a:highlight>
                  <a:srgbClr val="FFFFFF"/>
                </a:highlight>
              </a:rPr>
              <a:t>s</a:t>
            </a: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 con uno, due o tre orbitali </a:t>
            </a:r>
            <a:r>
              <a:rPr lang="en-US" sz="2200" i="1">
                <a:solidFill>
                  <a:srgbClr val="202122"/>
                </a:solidFill>
                <a:highlight>
                  <a:srgbClr val="FFFFFF"/>
                </a:highlight>
              </a:rPr>
              <a:t>p</a:t>
            </a: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, può ibridarsi </a:t>
            </a:r>
            <a:r>
              <a:rPr lang="en-US" sz="2200" i="1">
                <a:solidFill>
                  <a:srgbClr val="202122"/>
                </a:solidFill>
                <a:highlight>
                  <a:srgbClr val="FFFFFF"/>
                </a:highlight>
              </a:rPr>
              <a:t>sp, sp</a:t>
            </a:r>
            <a:r>
              <a:rPr lang="en-US" sz="2200" baseline="30000">
                <a:solidFill>
                  <a:srgbClr val="202122"/>
                </a:solidFill>
                <a:highlight>
                  <a:srgbClr val="FFFFFF"/>
                </a:highlight>
              </a:rPr>
              <a:t>2</a:t>
            </a:r>
            <a:r>
              <a:rPr lang="en-US" sz="2200" i="1">
                <a:solidFill>
                  <a:srgbClr val="202122"/>
                </a:solidFill>
                <a:highlight>
                  <a:srgbClr val="FFFFFF"/>
                </a:highlight>
              </a:rPr>
              <a:t> o sp</a:t>
            </a:r>
            <a:r>
              <a:rPr lang="en-US" sz="2200" baseline="30000">
                <a:solidFill>
                  <a:srgbClr val="202122"/>
                </a:solidFill>
                <a:highlight>
                  <a:schemeClr val="lt1"/>
                </a:highlight>
              </a:rPr>
              <a:t>3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. Forma legami: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1828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2489425" y="3231550"/>
            <a:ext cx="6244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71600" lvl="0" indent="-3683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di tipo </a:t>
            </a:r>
            <a:r>
              <a:rPr lang="en-US" sz="2200" b="1">
                <a:solidFill>
                  <a:srgbClr val="202122"/>
                </a:solidFill>
              </a:rPr>
              <a:t>σ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 con </a:t>
            </a:r>
            <a:r>
              <a:rPr lang="en-US" sz="2200" b="1">
                <a:solidFill>
                  <a:srgbClr val="202122"/>
                </a:solidFill>
                <a:highlight>
                  <a:schemeClr val="lt1"/>
                </a:highlight>
              </a:rPr>
              <a:t>orbitali ibridi</a:t>
            </a:r>
            <a:endParaRPr sz="2200" b="1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1371600" lvl="0" indent="-3683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di tipo </a:t>
            </a:r>
            <a:r>
              <a:rPr lang="en-US" sz="2200" b="1">
                <a:solidFill>
                  <a:srgbClr val="202122"/>
                </a:solidFill>
              </a:rPr>
              <a:t>π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 con </a:t>
            </a:r>
            <a:r>
              <a:rPr lang="en-US" sz="2200" b="1">
                <a:solidFill>
                  <a:srgbClr val="202122"/>
                </a:solidFill>
                <a:highlight>
                  <a:schemeClr val="lt1"/>
                </a:highlight>
              </a:rPr>
              <a:t>orbitali non ibridi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 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>
                <a:solidFill>
                  <a:srgbClr val="FF0000"/>
                </a:solidFill>
              </a:rPr>
              <a:t>I composti del carbonio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3</a:t>
            </a:r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323850" y="1382712"/>
            <a:ext cx="846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10"/>
          <p:cNvSpPr txBox="1"/>
          <p:nvPr/>
        </p:nvSpPr>
        <p:spPr>
          <a:xfrm>
            <a:off x="323850" y="1230312"/>
            <a:ext cx="84615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AutoNum type="arabicPeriod" startAt="2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Il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numero di ossidazione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n.o.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) assume tutti i valori tra +4 e -4. Nella stessa molecola organica il carbonio può assumere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valori diversi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di n.o.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Per ottenere il n.o. della molecola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si deve sommare il n.o. di tutti gli atomi di carbonio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1371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000"/>
              <a:buChar char="●"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 0 per C</a:t>
            </a:r>
            <a:r>
              <a:rPr lang="en-US" sz="2000">
                <a:solidFill>
                  <a:schemeClr val="dk1"/>
                </a:solidFill>
              </a:rPr>
              <a:t>─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C → e</a:t>
            </a:r>
            <a:r>
              <a:rPr lang="en-US" sz="2000" baseline="30000">
                <a:solidFill>
                  <a:srgbClr val="202122"/>
                </a:solidFill>
                <a:highlight>
                  <a:srgbClr val="FFFFFF"/>
                </a:highlight>
              </a:rPr>
              <a:t>-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 esattamente condivisi;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1371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000"/>
              <a:buChar char="●"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-1 per C</a:t>
            </a:r>
            <a:r>
              <a:rPr lang="en-US" sz="2000" b="1">
                <a:solidFill>
                  <a:schemeClr val="dk1"/>
                </a:solidFill>
              </a:rPr>
              <a:t>─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H o elementi meno elettronegativi di C;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13716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000"/>
              <a:buChar char="●"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+1 per elementi più elettronegativi di C (O, N, S, alogeni).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AutoNum type="arabicPeriod" startAt="3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Il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valore medio di elettronegatività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>
                <a:solidFill>
                  <a:srgbClr val="202122"/>
                </a:solidFill>
                <a:highlight>
                  <a:srgbClr val="FFFFFF"/>
                </a:highlight>
              </a:rPr>
              <a:t>(E</a:t>
            </a:r>
            <a:r>
              <a:rPr lang="en-US" i="1" baseline="-25000"/>
              <a:t>n</a:t>
            </a:r>
            <a:r>
              <a:rPr lang="en-US">
                <a:solidFill>
                  <a:srgbClr val="202122"/>
                </a:solidFill>
                <a:highlight>
                  <a:schemeClr val="lt1"/>
                </a:highlight>
              </a:rPr>
              <a:t>= 2,5</a:t>
            </a:r>
            <a:r>
              <a:rPr lang="en-US">
                <a:solidFill>
                  <a:srgbClr val="202122"/>
                </a:solidFill>
                <a:highlight>
                  <a:srgbClr val="FFFFFF"/>
                </a:highlight>
              </a:rPr>
              <a:t>)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fa sì che il carbonio non perda o acquisti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e</a:t>
            </a:r>
            <a:r>
              <a:rPr lang="en-US" sz="2400" baseline="30000">
                <a:solidFill>
                  <a:srgbClr val="202122"/>
                </a:solidFill>
                <a:highlight>
                  <a:schemeClr val="lt1"/>
                </a:highlight>
              </a:rPr>
              <a:t>-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, ma li condivida, formando legami covalenti stabili.</a:t>
            </a:r>
            <a:endParaRPr sz="2000">
              <a:solidFill>
                <a:srgbClr val="20212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>
                <a:solidFill>
                  <a:srgbClr val="FF0000"/>
                </a:solidFill>
              </a:rPr>
              <a:t>I composti del carbonio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4</a:t>
            </a:r>
            <a:endParaRPr/>
          </a:p>
        </p:txBody>
      </p:sp>
      <p:sp>
        <p:nvSpPr>
          <p:cNvPr id="123" name="Google Shape;123;p11"/>
          <p:cNvSpPr txBox="1"/>
          <p:nvPr/>
        </p:nvSpPr>
        <p:spPr>
          <a:xfrm>
            <a:off x="323850" y="1230312"/>
            <a:ext cx="84615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AutoNum type="arabicPeriod" startAt="4"/>
            </a:pP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Il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piccolo raggio atomico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del carbonio (r = 77 pm) comporta minimo ingombro sterico e possibilità di legami </a:t>
            </a:r>
            <a:r>
              <a:rPr lang="en-US" sz="2400" i="1">
                <a:solidFill>
                  <a:srgbClr val="202122"/>
                </a:solidFill>
                <a:highlight>
                  <a:schemeClr val="lt1"/>
                </a:highlight>
              </a:rPr>
              <a:t>singoli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, </a:t>
            </a:r>
            <a:r>
              <a:rPr lang="en-US" sz="2400" i="1">
                <a:solidFill>
                  <a:srgbClr val="202122"/>
                </a:solidFill>
                <a:highlight>
                  <a:schemeClr val="lt1"/>
                </a:highlight>
              </a:rPr>
              <a:t>doppi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e </a:t>
            </a:r>
            <a:r>
              <a:rPr lang="en-US" sz="2400" i="1">
                <a:solidFill>
                  <a:srgbClr val="202122"/>
                </a:solidFill>
                <a:highlight>
                  <a:schemeClr val="lt1"/>
                </a:highlight>
              </a:rPr>
              <a:t>tripli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AutoNum type="arabicPeriod" startAt="4"/>
            </a:pP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La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tendenza alla concatenazione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con altri atomi di carbonio: le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catene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possono essere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aperte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(lineari o ramificate) o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chiuse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463" y="4004712"/>
            <a:ext cx="6656274" cy="2384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4000">
                <a:solidFill>
                  <a:srgbClr val="FF0000"/>
                </a:solidFill>
              </a:rPr>
              <a:t>I composti del carbonio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5</a:t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323850" y="1382712"/>
            <a:ext cx="846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" name="Google Shape;142;p12"/>
          <p:cNvSpPr txBox="1"/>
          <p:nvPr/>
        </p:nvSpPr>
        <p:spPr>
          <a:xfrm>
            <a:off x="323850" y="1230312"/>
            <a:ext cx="84615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I composti organici si rappresentano con diverse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formule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: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di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Lewis →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evidenziano legami chimici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razionali →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mettono in evidenza i legami C</a:t>
            </a:r>
            <a:r>
              <a:rPr lang="en-US" sz="2400">
                <a:solidFill>
                  <a:schemeClr val="dk1"/>
                </a:solidFill>
              </a:rPr>
              <a:t>─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C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condensate →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evidenziano atomi e gruppi atomici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topologiche →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evidenziano la catena mediante segmenti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</p:txBody>
      </p:sp>
      <p:pic>
        <p:nvPicPr>
          <p:cNvPr id="143" name="Google Shape;14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24" y="3573550"/>
            <a:ext cx="7646151" cy="292815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/>
        </p:nvSpPr>
        <p:spPr>
          <a:xfrm>
            <a:off x="684212" y="41275"/>
            <a:ext cx="7847100" cy="6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Rispondi</a:t>
            </a:r>
            <a:b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chemeClr val="dk1"/>
                </a:solidFill>
              </a:rPr>
              <a:t>ome vengono classificati i composti organici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Descrivi i diversi tipi di ibridazione del carbonio.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In quale modo si possono rappresentare le formule molecolari dei composti organici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Scegli le parole</a:t>
            </a:r>
            <a:b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Nel livello energetico esterno il carbonio presenta </a:t>
            </a:r>
            <a:r>
              <a:rPr lang="en-US" sz="2000" b="1">
                <a:solidFill>
                  <a:schemeClr val="dk1"/>
                </a:solidFill>
              </a:rPr>
              <a:t>tre / quattro</a:t>
            </a:r>
            <a:r>
              <a:rPr lang="en-US" sz="2000">
                <a:solidFill>
                  <a:schemeClr val="dk1"/>
                </a:solidFill>
              </a:rPr>
              <a:t> elettroni spaiati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Il carbonio può assumere tutti i valori di n.o. compresi tra </a:t>
            </a:r>
            <a:endParaRPr sz="20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-2 e +2 / -4 e +4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1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Ora tocca a te</a:t>
            </a:r>
            <a:b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Il diamante e la grafite hanno un aspetto molto diverso ma entrambi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sono costituiti da atomi di carbonio. Aiutandoti con una ricerca in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Rete, specifica quale tipo di ibridazione presentano gli atomi di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carbonio in ciascuno dei due solidi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16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DATI IN AGENDA </a:t>
            </a:r>
            <a:r>
              <a:rPr lang="en-US" sz="2000" b="1">
                <a:solidFill>
                  <a:schemeClr val="dk1"/>
                </a:solidFill>
              </a:rPr>
              <a:t>Un diamante è per pochi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 rot="5400000">
            <a:off x="-3024187" y="3024187"/>
            <a:ext cx="6597650" cy="5492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 rot="5400000">
            <a:off x="5570538" y="3024187"/>
            <a:ext cx="6597650" cy="5492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grpSp>
        <p:nvGrpSpPr>
          <p:cNvPr id="156" name="Google Shape;156;p13"/>
          <p:cNvGrpSpPr/>
          <p:nvPr/>
        </p:nvGrpSpPr>
        <p:grpSpPr>
          <a:xfrm>
            <a:off x="0" y="6597650"/>
            <a:ext cx="9144000" cy="260400"/>
            <a:chOff x="0" y="6597650"/>
            <a:chExt cx="9144000" cy="260400"/>
          </a:xfrm>
        </p:grpSpPr>
        <p:sp>
          <p:nvSpPr>
            <p:cNvPr id="157" name="Google Shape;157;p13"/>
            <p:cNvSpPr txBox="1"/>
            <p:nvPr/>
          </p:nvSpPr>
          <p:spPr>
            <a:xfrm>
              <a:off x="0" y="6597650"/>
              <a:ext cx="9144000" cy="26040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Sadava et al, </a:t>
              </a:r>
              <a:r>
                <a:rPr lang="en-US" sz="800" i="1">
                  <a:solidFill>
                    <a:srgbClr val="000000"/>
                  </a:solidFill>
                </a:rPr>
                <a:t>Il carbonio, gli enzimi, il DNA</a:t>
              </a:r>
              <a:r>
                <a:rPr lang="en-US" sz="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– © Zanichelli 202</a:t>
              </a:r>
              <a:r>
                <a:rPr lang="en-US" sz="800"/>
                <a:t>1</a:t>
              </a:r>
              <a:endParaRPr/>
            </a:p>
          </p:txBody>
        </p:sp>
        <p:pic>
          <p:nvPicPr>
            <p:cNvPr id="158" name="Google Shape;158;p13" descr="zanichelli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72450" y="6608762"/>
              <a:ext cx="971550" cy="2492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/>
        </p:nvSpPr>
        <p:spPr>
          <a:xfrm>
            <a:off x="323850" y="1382700"/>
            <a:ext cx="87321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Sono detti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i composti con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stessa formula molecolare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,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differente formula di struttura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e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diverse proprietà fisico-chimiche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Esistono due tipi di isomeria: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Isomeria di struttura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due o più composti hanno stessa formula molecolare ma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differenze nella catena carboniosa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Stereoisomeria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atomi o gruppi atomici di due o più composti sono legati tra loro nella stessa sequenza ma con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differente disposizione spaziale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2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L’isomeria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 t="36984"/>
          <a:stretch/>
        </p:blipFill>
        <p:spPr>
          <a:xfrm>
            <a:off x="2838100" y="5467655"/>
            <a:ext cx="3791500" cy="9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323850" y="1230312"/>
            <a:ext cx="8461500" cy="44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L’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isomeria di struttura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è distinta in: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isomeria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di catena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atomi di C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sono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legati diversamente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isomeria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di posizione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stessa catena ma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differente </a:t>
            </a:r>
            <a:endParaRPr sz="2400" i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posizione 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di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legame multiplo 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/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atomo 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/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gruppo atomico</a:t>
            </a:r>
            <a:endParaRPr sz="2400" i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isomeria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di gruppo funzionale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gruppi funzionali diversi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nella catena carboniosa</a:t>
            </a:r>
            <a:endParaRPr sz="2400"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4">
            <a:alphaModFix/>
          </a:blip>
          <a:srcRect b="71493"/>
          <a:stretch/>
        </p:blipFill>
        <p:spPr>
          <a:xfrm>
            <a:off x="2773575" y="3999997"/>
            <a:ext cx="3920551" cy="6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2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L’isomeria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2</a:t>
            </a:r>
            <a:endParaRPr/>
          </a:p>
        </p:txBody>
      </p:sp>
      <p:pic>
        <p:nvPicPr>
          <p:cNvPr id="189" name="Google Shape;1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5438" y="2248875"/>
            <a:ext cx="3316825" cy="6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2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L’isomeria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3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323850" y="1230312"/>
            <a:ext cx="8461500" cy="32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stereoisomeria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è distinta in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isomeria di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 conformazione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isomeria di</a:t>
            </a: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 configurazione</a:t>
            </a:r>
            <a:endParaRPr sz="2400" b="1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 conformazionali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o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conformeri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differiscono per l’orientazione nello spazio di gruppi atomici.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Si possono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interconvertire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per rotazione attorno a un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legame semplice 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C</a:t>
            </a:r>
            <a:r>
              <a:rPr lang="en-US" sz="2400">
                <a:solidFill>
                  <a:schemeClr val="dk1"/>
                </a:solidFill>
              </a:rPr>
              <a:t>─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C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204" name="Google Shape;2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62" y="4550026"/>
            <a:ext cx="8143476" cy="17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2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L’isomeria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4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323850" y="1230312"/>
            <a:ext cx="8461500" cy="48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 configurazionali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differiscono per l’orientazione nello spazio di atomi o gruppi atomici che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non si possono interconvertire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per rotazione intorno a un legame.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L’isomeria di configurazione è distinta in: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isomeria geometrica</a:t>
            </a:r>
            <a:endParaRPr sz="24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isomeria enantiomerica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(o ottica)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Gli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 geometrici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differiscono per la disposizione di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atomi o gruppi atomici legati a due atomi di C uniti da un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legame.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2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L’isomeria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5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323850" y="1230300"/>
            <a:ext cx="86865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Gli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enantiomeri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o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isomeri ottici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sono molecole con diversa disposizione spaziale, sono una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l’immagine speculare dell’altra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ma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non sovrapponibili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Si può parlare di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enantiomeri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di una stessa molecola solo se: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esiste uno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stereocentro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atomo di C legato a 4 atomi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o gruppi atomici diversi;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è assente un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piano di simmetria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Se coesistono queste caratteristiche in una molecola, questa è detta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chirale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     </a:t>
            </a:r>
            <a:endParaRPr sz="2400" b="1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grpSp>
        <p:nvGrpSpPr>
          <p:cNvPr id="233" name="Google Shape;233;p18"/>
          <p:cNvGrpSpPr/>
          <p:nvPr/>
        </p:nvGrpSpPr>
        <p:grpSpPr>
          <a:xfrm>
            <a:off x="2357600" y="4985600"/>
            <a:ext cx="4428825" cy="1480111"/>
            <a:chOff x="2357587" y="5005700"/>
            <a:chExt cx="4428825" cy="1480111"/>
          </a:xfrm>
        </p:grpSpPr>
        <p:pic>
          <p:nvPicPr>
            <p:cNvPr id="234" name="Google Shape;234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05657" y="5005700"/>
              <a:ext cx="2180755" cy="1480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357587" y="5005708"/>
              <a:ext cx="2180755" cy="147132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2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L’isomeria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6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247650" y="1230300"/>
            <a:ext cx="8820000" cy="29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Se c’è un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piano di simmetria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, la molecola si presenta sotto forma di due stereoisomeri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speculari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sovrapponibili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sono quindi isomeri identici e un unico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 composto achirale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In una molecola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chirale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i due enantiomeri hanno: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identiche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proprietà achirali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→ fisiche e chimiche;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diverse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proprietà chirali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→ reattività e attività ottica.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247" name="Google Shape;2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202" y="4416112"/>
            <a:ext cx="5211601" cy="17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/>
        </p:nvSpPr>
        <p:spPr>
          <a:xfrm rot="5400000">
            <a:off x="-3024187" y="3024187"/>
            <a:ext cx="6597650" cy="5492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 rot="5400000">
            <a:off x="5570538" y="3024187"/>
            <a:ext cx="6597650" cy="5492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647712" y="41550"/>
            <a:ext cx="7848600" cy="6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Rispondi</a:t>
            </a:r>
            <a:endParaRPr sz="2400">
              <a:solidFill>
                <a:srgbClr val="FF0000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10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</a:t>
            </a:r>
            <a:r>
              <a:rPr lang="en-US" sz="2000">
                <a:solidFill>
                  <a:srgbClr val="000000"/>
                </a:solidFill>
              </a:rPr>
              <a:t>li sono i diversi tipi di isomeria di posizione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Perché </a:t>
            </a:r>
            <a:r>
              <a:rPr lang="en-US" sz="2000">
                <a:solidFill>
                  <a:srgbClr val="000000"/>
                </a:solidFill>
              </a:rPr>
              <a:t>si verifica l’isomeria geometrica negli alcheni (composti con legame C=C) e nei cicloalcani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Scegli le parole</a:t>
            </a: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1000" b="0" i="0" u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Gli isomeri di catena sono esempi di </a:t>
            </a:r>
            <a:r>
              <a:rPr lang="en-US" sz="2000" b="1">
                <a:solidFill>
                  <a:srgbClr val="000000"/>
                </a:solidFill>
              </a:rPr>
              <a:t>isomeria di struttura / stereoisomeria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Uno stereocentro è un atomo di carbonio legato a quattro atomi o gruppi atomici tutti </a:t>
            </a:r>
            <a:r>
              <a:rPr lang="en-US" sz="2000" b="1">
                <a:solidFill>
                  <a:srgbClr val="000000"/>
                </a:solidFill>
              </a:rPr>
              <a:t>uguali / diversi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Ora tocca a te</a:t>
            </a: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1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I due enantiomeri di una molecola presentano spesso un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comportamento chimico diverso. Per esempio, i due enantiomeri del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carvone vengono percepiti dal nostro olfatto con una profumazione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diversa. Aiutandoti con una ricerca in Rete, indica il profumo di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ciascuno dei due enantiomeri e ipotizza il motivo della loro diversa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profumazione.</a:t>
            </a:r>
            <a:endParaRPr sz="2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1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323850" y="1808050"/>
            <a:ext cx="86955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Le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proprietà fisiche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dei composti organici dipendono dai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legami intermolecolari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Stato fisico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-"/>
            </a:pP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pochi e deboli legami → stato </a:t>
            </a:r>
            <a:r>
              <a:rPr lang="en-US" sz="2200" b="1">
                <a:solidFill>
                  <a:srgbClr val="202122"/>
                </a:solidFill>
                <a:highlight>
                  <a:srgbClr val="FFFFFF"/>
                </a:highlight>
              </a:rPr>
              <a:t>aeriforme</a:t>
            </a:r>
            <a:endParaRPr sz="22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-"/>
            </a:pP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numerosi e forti legami → stato</a:t>
            </a:r>
            <a:r>
              <a:rPr lang="en-US" sz="2200" b="1">
                <a:solidFill>
                  <a:srgbClr val="202122"/>
                </a:solidFill>
                <a:highlight>
                  <a:srgbClr val="FFFFFF"/>
                </a:highlight>
              </a:rPr>
              <a:t> liquido / solido</a:t>
            </a:r>
            <a:endParaRPr sz="22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Punto di ebollizione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(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p.e.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)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-"/>
            </a:pP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molecole apolari / debolmente polari hanno </a:t>
            </a:r>
            <a:r>
              <a:rPr lang="en-US" sz="2200" b="1">
                <a:solidFill>
                  <a:srgbClr val="202122"/>
                </a:solidFill>
                <a:highlight>
                  <a:srgbClr val="FFFFFF"/>
                </a:highlight>
              </a:rPr>
              <a:t>p.e.</a:t>
            </a: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 relativamente </a:t>
            </a:r>
            <a:r>
              <a:rPr lang="en-US" sz="2200" b="1">
                <a:solidFill>
                  <a:srgbClr val="202122"/>
                </a:solidFill>
                <a:highlight>
                  <a:srgbClr val="FFFFFF"/>
                </a:highlight>
              </a:rPr>
              <a:t>bassi</a:t>
            </a:r>
            <a:endParaRPr sz="22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9144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-"/>
            </a:pP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gruppi che formano legami a idrogeno hanno </a:t>
            </a:r>
            <a:r>
              <a:rPr lang="en-US" sz="2200" b="1">
                <a:solidFill>
                  <a:srgbClr val="202122"/>
                </a:solidFill>
                <a:highlight>
                  <a:srgbClr val="FFFFFF"/>
                </a:highlight>
              </a:rPr>
              <a:t>p.e.</a:t>
            </a:r>
            <a:r>
              <a:rPr lang="en-US" sz="2200">
                <a:solidFill>
                  <a:srgbClr val="202122"/>
                </a:solidFill>
                <a:highlight>
                  <a:srgbClr val="FFFFFF"/>
                </a:highlight>
              </a:rPr>
              <a:t> relativamente </a:t>
            </a:r>
            <a:r>
              <a:rPr lang="en-US" sz="2200" b="1">
                <a:solidFill>
                  <a:srgbClr val="202122"/>
                </a:solidFill>
                <a:highlight>
                  <a:srgbClr val="FFFFFF"/>
                </a:highlight>
              </a:rPr>
              <a:t>alti</a:t>
            </a:r>
            <a:endParaRPr sz="2200" b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 txBox="1"/>
          <p:nvPr/>
        </p:nvSpPr>
        <p:spPr>
          <a:xfrm>
            <a:off x="323850" y="1834025"/>
            <a:ext cx="8604300" cy="4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chemeClr val="lt1"/>
                </a:highlight>
              </a:rPr>
              <a:t>Solubilità in acqua</a:t>
            </a:r>
            <a:r>
              <a:rPr lang="en-US" sz="2400">
                <a:solidFill>
                  <a:srgbClr val="202122"/>
                </a:solidFill>
                <a:highlight>
                  <a:schemeClr val="lt1"/>
                </a:highlight>
              </a:rPr>
              <a:t> </a:t>
            </a:r>
            <a:endParaRPr sz="24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914400" lvl="0" indent="-3683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-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presenza di gruppi idrofili → </a:t>
            </a:r>
            <a:r>
              <a:rPr lang="en-US" sz="2200" b="1">
                <a:solidFill>
                  <a:srgbClr val="202122"/>
                </a:solidFill>
                <a:highlight>
                  <a:schemeClr val="lt1"/>
                </a:highlight>
              </a:rPr>
              <a:t>solubili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 in acqua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914400" lvl="0" indent="-3683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-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presenza di gruppi idrofobici → </a:t>
            </a:r>
            <a:r>
              <a:rPr lang="en-US" sz="2200" b="1">
                <a:solidFill>
                  <a:srgbClr val="202122"/>
                </a:solidFill>
                <a:highlight>
                  <a:schemeClr val="lt1"/>
                </a:highlight>
              </a:rPr>
              <a:t>insolubili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 in acqua</a:t>
            </a:r>
            <a:endParaRPr sz="2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reattività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di composti organici dipende dalla presenza di: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legami multipli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legame </a:t>
            </a:r>
            <a:r>
              <a:rPr lang="en-US" sz="2400">
                <a:solidFill>
                  <a:srgbClr val="202122"/>
                </a:solidFill>
              </a:rPr>
              <a:t>π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è molto più reattivo legame </a:t>
            </a:r>
            <a:r>
              <a:rPr lang="en-US" sz="2400">
                <a:solidFill>
                  <a:srgbClr val="202122"/>
                </a:solidFill>
              </a:rPr>
              <a:t>σ;</a:t>
            </a:r>
            <a:endParaRPr sz="2400">
              <a:solidFill>
                <a:srgbClr val="202122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atomi elettronegativi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la loro presenza polarizza il legame con C e lo rende più debole, la molecola sarà più reattiva;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gruppi funzionali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gruppi funzionali diversi hanno reattività diverse.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3</a:t>
            </a:r>
            <a:endParaRPr/>
          </a:p>
        </p:txBody>
      </p:sp>
      <p:pic>
        <p:nvPicPr>
          <p:cNvPr id="307" name="Google Shape;3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4058600"/>
            <a:ext cx="4178830" cy="23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2895" y="4058598"/>
            <a:ext cx="4178830" cy="210460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3"/>
          <p:cNvSpPr txBox="1"/>
          <p:nvPr/>
        </p:nvSpPr>
        <p:spPr>
          <a:xfrm>
            <a:off x="323850" y="1839912"/>
            <a:ext cx="84615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I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tipi di reazioni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dei composti organici dipendono dal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gruppo funzionale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Composti con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stesso gruppo funzionale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hanno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uguali proprietà chimiche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reattività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Vengono riuniti nella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stessa classe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4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323850" y="1916112"/>
            <a:ext cx="8461500" cy="41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L’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effetto induttivo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>
                <a:solidFill>
                  <a:srgbClr val="000000"/>
                </a:solidFill>
              </a:rPr>
              <a:t>è lo </a:t>
            </a:r>
            <a:r>
              <a:rPr lang="en-US" sz="2400" i="1">
                <a:solidFill>
                  <a:srgbClr val="000000"/>
                </a:solidFill>
              </a:rPr>
              <a:t>spostamento di elettroni</a:t>
            </a:r>
            <a:r>
              <a:rPr lang="en-US" sz="2400">
                <a:solidFill>
                  <a:srgbClr val="000000"/>
                </a:solidFill>
              </a:rPr>
              <a:t> in una catena di atomi verso più l’atomo / gruppo più </a:t>
            </a:r>
            <a:r>
              <a:rPr lang="en-US" sz="2400" i="1">
                <a:solidFill>
                  <a:srgbClr val="000000"/>
                </a:solidFill>
              </a:rPr>
              <a:t>elettronegativo</a:t>
            </a:r>
            <a:r>
              <a:rPr lang="en-US" sz="2400">
                <a:solidFill>
                  <a:srgbClr val="000000"/>
                </a:solidFill>
              </a:rPr>
              <a:t>, ciò provoca una </a:t>
            </a:r>
            <a:r>
              <a:rPr lang="en-US" sz="2400" i="1">
                <a:solidFill>
                  <a:srgbClr val="000000"/>
                </a:solidFill>
              </a:rPr>
              <a:t>polarizzazione</a:t>
            </a:r>
            <a:r>
              <a:rPr lang="en-US" sz="2400">
                <a:solidFill>
                  <a:srgbClr val="000000"/>
                </a:solidFill>
              </a:rPr>
              <a:t> del legame in cui l’atomo più elettronegativo ha una parziale carica negativa δ- mentre l’atomo meno elettronegativo ha una parziale carica δ+. </a:t>
            </a:r>
            <a:endParaRPr sz="240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Può essere di tipo: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attrattivo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aumenta la reattività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della molecola;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repulsivo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diminuisce la reattività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della molecola.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5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323850" y="1687512"/>
            <a:ext cx="84615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Sostituenti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 err="1">
                <a:solidFill>
                  <a:srgbClr val="202122"/>
                </a:solidFill>
                <a:highlight>
                  <a:srgbClr val="FFFFFF"/>
                </a:highlight>
              </a:rPr>
              <a:t>elettron-attrattori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atomi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più</a:t>
            </a:r>
            <a:r>
              <a:rPr lang="en-US" sz="2400" i="1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elettronegativi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dell’atomo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di </a:t>
            </a: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carbonio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e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gruppi</a:t>
            </a:r>
            <a:r>
              <a:rPr lang="en-US" sz="2400" i="1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atomici</a:t>
            </a:r>
            <a:r>
              <a:rPr lang="en-US" sz="2400" i="1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carbonile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e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carbossile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 dirty="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Sostituenti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b="1" dirty="0" err="1">
                <a:solidFill>
                  <a:srgbClr val="202122"/>
                </a:solidFill>
                <a:highlight>
                  <a:srgbClr val="FFFFFF"/>
                </a:highlight>
              </a:rPr>
              <a:t>elettron-donatori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gruppi</a:t>
            </a:r>
            <a:r>
              <a:rPr lang="en-US" sz="2400" i="1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i="1" dirty="0" err="1">
                <a:solidFill>
                  <a:srgbClr val="202122"/>
                </a:solidFill>
                <a:highlight>
                  <a:srgbClr val="FFFFFF"/>
                </a:highlight>
              </a:rPr>
              <a:t>atomici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in cui il </a:t>
            </a: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carbonio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rgbClr val="202122"/>
                </a:solidFill>
                <a:highlight>
                  <a:srgbClr val="FFFFFF"/>
                </a:highlight>
              </a:rPr>
              <a:t>ibridato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en-US" sz="2400" i="1" dirty="0">
                <a:solidFill>
                  <a:srgbClr val="202122"/>
                </a:solidFill>
                <a:highlight>
                  <a:schemeClr val="lt1"/>
                </a:highlight>
              </a:rPr>
              <a:t>sp</a:t>
            </a:r>
            <a:r>
              <a:rPr lang="en-US" sz="2400" baseline="30000" dirty="0">
                <a:solidFill>
                  <a:srgbClr val="202122"/>
                </a:solidFill>
                <a:highlight>
                  <a:schemeClr val="lt1"/>
                </a:highlight>
              </a:rPr>
              <a:t>3</a:t>
            </a:r>
            <a:r>
              <a:rPr lang="en-US" sz="2400" dirty="0">
                <a:solidFill>
                  <a:srgbClr val="202122"/>
                </a:solidFill>
                <a:highlight>
                  <a:schemeClr val="lt1"/>
                </a:highlight>
              </a:rPr>
              <a:t> </a:t>
            </a:r>
            <a:r>
              <a:rPr lang="en-US" sz="2400" dirty="0" err="1">
                <a:solidFill>
                  <a:srgbClr val="202122"/>
                </a:solidFill>
                <a:highlight>
                  <a:schemeClr val="lt1"/>
                </a:highlight>
              </a:rPr>
              <a:t>è</a:t>
            </a:r>
            <a:r>
              <a:rPr lang="en-US" sz="2400" dirty="0">
                <a:solidFill>
                  <a:srgbClr val="202122"/>
                </a:solidFill>
                <a:highlight>
                  <a:schemeClr val="lt1"/>
                </a:highlight>
              </a:rPr>
              <a:t> legato ad </a:t>
            </a:r>
            <a:r>
              <a:rPr lang="en-US" sz="2400" dirty="0" err="1">
                <a:solidFill>
                  <a:srgbClr val="202122"/>
                </a:solidFill>
                <a:highlight>
                  <a:schemeClr val="lt1"/>
                </a:highlight>
              </a:rPr>
              <a:t>atomi</a:t>
            </a:r>
            <a:r>
              <a:rPr lang="en-US" sz="2400" dirty="0">
                <a:solidFill>
                  <a:srgbClr val="202122"/>
                </a:solidFill>
                <a:highlight>
                  <a:schemeClr val="lt1"/>
                </a:highlight>
              </a:rPr>
              <a:t> di </a:t>
            </a:r>
            <a:r>
              <a:rPr lang="en-US" sz="2400" dirty="0" err="1">
                <a:solidFill>
                  <a:srgbClr val="202122"/>
                </a:solidFill>
                <a:highlight>
                  <a:schemeClr val="lt1"/>
                </a:highlight>
              </a:rPr>
              <a:t>idrogeno</a:t>
            </a:r>
            <a:r>
              <a:rPr lang="en-US" sz="2400" dirty="0">
                <a:solidFill>
                  <a:srgbClr val="202122"/>
                </a:solidFill>
                <a:highlight>
                  <a:schemeClr val="lt1"/>
                </a:highlight>
              </a:rPr>
              <a:t>.</a:t>
            </a:r>
            <a:endParaRPr sz="2400" dirty="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338" name="Google Shape;338;p25"/>
          <p:cNvPicPr preferRelativeResize="0"/>
          <p:nvPr/>
        </p:nvPicPr>
        <p:blipFill rotWithShape="1">
          <a:blip r:embed="rId3">
            <a:alphaModFix/>
          </a:blip>
          <a:srcRect l="2318" t="14880" r="31443" b="48885"/>
          <a:stretch/>
        </p:blipFill>
        <p:spPr>
          <a:xfrm>
            <a:off x="2202336" y="5210036"/>
            <a:ext cx="1604261" cy="10073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25"/>
          <p:cNvGrpSpPr/>
          <p:nvPr/>
        </p:nvGrpSpPr>
        <p:grpSpPr>
          <a:xfrm>
            <a:off x="704474" y="2918264"/>
            <a:ext cx="7700251" cy="1074501"/>
            <a:chOff x="1269637" y="2510800"/>
            <a:chExt cx="6928425" cy="966800"/>
          </a:xfrm>
        </p:grpSpPr>
        <p:pic>
          <p:nvPicPr>
            <p:cNvPr id="340" name="Google Shape;340;p25"/>
            <p:cNvPicPr preferRelativeResize="0"/>
            <p:nvPr/>
          </p:nvPicPr>
          <p:blipFill rotWithShape="1">
            <a:blip r:embed="rId4">
              <a:alphaModFix/>
            </a:blip>
            <a:srcRect l="2146" t="18140" r="51501" b="65459"/>
            <a:stretch/>
          </p:blipFill>
          <p:spPr>
            <a:xfrm>
              <a:off x="1269637" y="2965700"/>
              <a:ext cx="1262200" cy="434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25"/>
            <p:cNvPicPr preferRelativeResize="0"/>
            <p:nvPr/>
          </p:nvPicPr>
          <p:blipFill rotWithShape="1">
            <a:blip r:embed="rId4">
              <a:alphaModFix/>
            </a:blip>
            <a:srcRect l="2476" t="42280" r="23366" b="35499"/>
            <a:stretch/>
          </p:blipFill>
          <p:spPr>
            <a:xfrm>
              <a:off x="3145550" y="2888550"/>
              <a:ext cx="2019525" cy="589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25"/>
            <p:cNvPicPr preferRelativeResize="0"/>
            <p:nvPr/>
          </p:nvPicPr>
          <p:blipFill rotWithShape="1">
            <a:blip r:embed="rId4">
              <a:alphaModFix/>
            </a:blip>
            <a:srcRect l="2798" t="68012" r="8359" b="1833"/>
            <a:stretch/>
          </p:blipFill>
          <p:spPr>
            <a:xfrm>
              <a:off x="5778813" y="2510800"/>
              <a:ext cx="2419250" cy="799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3" name="Google Shape;343;p25"/>
          <p:cNvPicPr preferRelativeResize="0"/>
          <p:nvPr/>
        </p:nvPicPr>
        <p:blipFill rotWithShape="1">
          <a:blip r:embed="rId3">
            <a:alphaModFix/>
          </a:blip>
          <a:srcRect l="4247" t="57625" r="6696" b="3725"/>
          <a:stretch/>
        </p:blipFill>
        <p:spPr>
          <a:xfrm>
            <a:off x="4515474" y="5176451"/>
            <a:ext cx="2156901" cy="107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6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323850" y="1839912"/>
            <a:ext cx="84615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La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rottura 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di un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 legame covalente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può avvenire secondo due modalità: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Rottura omolitica 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o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radicalica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ciascun atomo </a:t>
            </a:r>
            <a:r>
              <a:rPr lang="en-US" sz="2000" i="1">
                <a:solidFill>
                  <a:srgbClr val="202122"/>
                </a:solidFill>
                <a:highlight>
                  <a:srgbClr val="FFFFFF"/>
                </a:highlight>
              </a:rPr>
              <a:t>trattiene uno </a:t>
            </a:r>
            <a:endParaRPr sz="2000" i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202122"/>
                </a:solidFill>
                <a:highlight>
                  <a:srgbClr val="FFFFFF"/>
                </a:highlight>
              </a:rPr>
              <a:t>dei due elettroni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 di legame 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→ formazione di </a:t>
            </a:r>
            <a:r>
              <a:rPr lang="en-US" sz="2000" b="1">
                <a:solidFill>
                  <a:srgbClr val="202122"/>
                </a:solidFill>
                <a:highlight>
                  <a:srgbClr val="FFFFFF"/>
                </a:highlight>
              </a:rPr>
              <a:t>radicali liberi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Rottura eterolitica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o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polare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l’atomo più elettronegativo </a:t>
            </a:r>
            <a:r>
              <a:rPr lang="en-US" sz="2000" i="1">
                <a:solidFill>
                  <a:srgbClr val="202122"/>
                </a:solidFill>
                <a:highlight>
                  <a:srgbClr val="FFFFFF"/>
                </a:highlight>
              </a:rPr>
              <a:t>trattiene </a:t>
            </a:r>
            <a:endParaRPr sz="2000" i="1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202122"/>
                </a:solidFill>
                <a:highlight>
                  <a:srgbClr val="FFFFFF"/>
                </a:highlight>
              </a:rPr>
              <a:t>il doppietto elettronico di legame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→ formazione di </a:t>
            </a:r>
            <a:r>
              <a:rPr lang="en-US" sz="2000" b="1">
                <a:solidFill>
                  <a:srgbClr val="202122"/>
                </a:solidFill>
                <a:highlight>
                  <a:srgbClr val="FFFFFF"/>
                </a:highlight>
              </a:rPr>
              <a:t>ione+ 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e</a:t>
            </a:r>
            <a:r>
              <a:rPr lang="en-US" sz="2000" b="1">
                <a:solidFill>
                  <a:srgbClr val="202122"/>
                </a:solidFill>
                <a:highlight>
                  <a:srgbClr val="FFFFFF"/>
                </a:highlight>
              </a:rPr>
              <a:t> ione-</a:t>
            </a:r>
            <a:r>
              <a:rPr lang="en-US" sz="20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20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358" name="Google Shape;3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8006" y="2877800"/>
            <a:ext cx="3167768" cy="17989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26"/>
          <p:cNvGrpSpPr/>
          <p:nvPr/>
        </p:nvGrpSpPr>
        <p:grpSpPr>
          <a:xfrm>
            <a:off x="5091049" y="5442925"/>
            <a:ext cx="3777800" cy="531875"/>
            <a:chOff x="5243449" y="4909525"/>
            <a:chExt cx="3777800" cy="531875"/>
          </a:xfrm>
        </p:grpSpPr>
        <p:pic>
          <p:nvPicPr>
            <p:cNvPr id="360" name="Google Shape;360;p26"/>
            <p:cNvPicPr preferRelativeResize="0"/>
            <p:nvPr/>
          </p:nvPicPr>
          <p:blipFill rotWithShape="1">
            <a:blip r:embed="rId4">
              <a:alphaModFix/>
            </a:blip>
            <a:srcRect l="28861"/>
            <a:stretch/>
          </p:blipFill>
          <p:spPr>
            <a:xfrm>
              <a:off x="6072225" y="4909525"/>
              <a:ext cx="2949025" cy="53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26"/>
            <p:cNvPicPr preferRelativeResize="0"/>
            <p:nvPr/>
          </p:nvPicPr>
          <p:blipFill rotWithShape="1">
            <a:blip r:embed="rId4">
              <a:alphaModFix/>
            </a:blip>
            <a:srcRect r="83609"/>
            <a:stretch/>
          </p:blipFill>
          <p:spPr>
            <a:xfrm>
              <a:off x="5243449" y="4909525"/>
              <a:ext cx="679475" cy="53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/>
        </p:nvSpPr>
        <p:spPr>
          <a:xfrm>
            <a:off x="323850" y="476250"/>
            <a:ext cx="8820000" cy="887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3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4000">
                <a:solidFill>
                  <a:srgbClr val="FF0000"/>
                </a:solidFill>
              </a:rPr>
              <a:t>Proprietà fisiche e reattività dei composti organici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sz="4000">
                <a:solidFill>
                  <a:srgbClr val="FF0000"/>
                </a:solidFill>
              </a:rPr>
              <a:t>7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323850" y="1839912"/>
            <a:ext cx="84615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Le reazioni eterolitiche coinvolgono specie chimiche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elettrofile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con parziale o totale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carica+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o con ottetto incompleto. Tendono a reagire con specie ricche di e</a:t>
            </a:r>
            <a:r>
              <a:rPr lang="en-US" sz="2400" baseline="30000">
                <a:solidFill>
                  <a:srgbClr val="202122"/>
                </a:solidFill>
                <a:highlight>
                  <a:srgbClr val="FFFFFF"/>
                </a:highlight>
              </a:rPr>
              <a:t>-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formando legame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covalente dativo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nucleofile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: con parziale o totale </a:t>
            </a:r>
            <a:r>
              <a:rPr lang="en-US" sz="2400" i="1">
                <a:solidFill>
                  <a:srgbClr val="202122"/>
                </a:solidFill>
                <a:highlight>
                  <a:srgbClr val="FFFFFF"/>
                </a:highlight>
              </a:rPr>
              <a:t>carica-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o con doppietto elettronico disponibile. Sono distinti in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forti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 (con minor elettronegatività) e </a:t>
            </a:r>
            <a:r>
              <a:rPr lang="en-US" sz="2400" b="1">
                <a:solidFill>
                  <a:srgbClr val="202122"/>
                </a:solidFill>
                <a:highlight>
                  <a:srgbClr val="FFFFFF"/>
                </a:highlight>
              </a:rPr>
              <a:t>deboli</a:t>
            </a:r>
            <a:r>
              <a:rPr lang="en-US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1063388" y="3697375"/>
            <a:ext cx="1030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02122"/>
                </a:solidFill>
                <a:highlight>
                  <a:srgbClr val="FFFFFF"/>
                </a:highlight>
              </a:rPr>
              <a:t>Reagenti</a:t>
            </a: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02122"/>
                </a:solidFill>
                <a:highlight>
                  <a:srgbClr val="FFFFFF"/>
                </a:highlight>
              </a:rPr>
              <a:t>elettrofili</a:t>
            </a:r>
            <a:endParaRPr sz="15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grpSp>
        <p:nvGrpSpPr>
          <p:cNvPr id="377" name="Google Shape;377;p27"/>
          <p:cNvGrpSpPr/>
          <p:nvPr/>
        </p:nvGrpSpPr>
        <p:grpSpPr>
          <a:xfrm>
            <a:off x="1182413" y="5802913"/>
            <a:ext cx="6793413" cy="794725"/>
            <a:chOff x="1098750" y="5610738"/>
            <a:chExt cx="6793413" cy="794725"/>
          </a:xfrm>
        </p:grpSpPr>
        <p:pic>
          <p:nvPicPr>
            <p:cNvPr id="378" name="Google Shape;378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29538" y="5614888"/>
              <a:ext cx="5762625" cy="790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7"/>
            <p:cNvSpPr txBox="1"/>
            <p:nvPr/>
          </p:nvSpPr>
          <p:spPr>
            <a:xfrm>
              <a:off x="1098750" y="5610738"/>
              <a:ext cx="10308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202122"/>
                  </a:solidFill>
                  <a:highlight>
                    <a:srgbClr val="FFFFFF"/>
                  </a:highlight>
                </a:rPr>
                <a:t>Reagenti</a:t>
              </a:r>
              <a:endParaRPr sz="1500">
                <a:solidFill>
                  <a:srgbClr val="202122"/>
                </a:solidFill>
                <a:highlight>
                  <a:srgbClr val="FFFFFF"/>
                </a:highlight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202122"/>
                  </a:solidFill>
                  <a:highlight>
                    <a:srgbClr val="FFFFFF"/>
                  </a:highlight>
                </a:rPr>
                <a:t>nucleofili</a:t>
              </a:r>
              <a:endParaRPr sz="1500">
                <a:solidFill>
                  <a:srgbClr val="202122"/>
                </a:solidFill>
                <a:highlight>
                  <a:srgbClr val="FFFFFF"/>
                </a:highlight>
              </a:endParaRPr>
            </a:p>
          </p:txBody>
        </p:sp>
      </p:grpSp>
      <p:pic>
        <p:nvPicPr>
          <p:cNvPr id="380" name="Google Shape;380;p27"/>
          <p:cNvPicPr preferRelativeResize="0"/>
          <p:nvPr/>
        </p:nvPicPr>
        <p:blipFill rotWithShape="1">
          <a:blip r:embed="rId4">
            <a:alphaModFix/>
          </a:blip>
          <a:srcRect r="5437"/>
          <a:stretch/>
        </p:blipFill>
        <p:spPr>
          <a:xfrm>
            <a:off x="2070350" y="3578325"/>
            <a:ext cx="5818425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 txBox="1"/>
          <p:nvPr/>
        </p:nvSpPr>
        <p:spPr>
          <a:xfrm rot="5400000">
            <a:off x="-3024175" y="3024150"/>
            <a:ext cx="6597600" cy="54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 rot="5400000">
            <a:off x="5570550" y="3024150"/>
            <a:ext cx="6597600" cy="549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684212" y="33337"/>
            <a:ext cx="7775700" cy="6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Rispondi</a:t>
            </a:r>
            <a:b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/>
              <a:t>Come si spiega la diversa qualità dei composti organici in acqua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/>
              <a:t>Qual è il significato di gruppo funzionale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Qual è la differenza tra nucleofili forti e nucleofili deboli?</a:t>
            </a:r>
            <a:endParaRPr sz="2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Scegli le parole</a:t>
            </a:r>
            <a:b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 b="0" i="0" u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I </a:t>
            </a:r>
            <a:r>
              <a:rPr lang="en-US" sz="2000"/>
              <a:t>composti solubili in acqua contengono gruppi </a:t>
            </a:r>
            <a:r>
              <a:rPr lang="en-US" sz="2000" b="1"/>
              <a:t>idrofili / idrofobici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/>
              <a:t>I gruppi carbonile e carbossile sono </a:t>
            </a:r>
            <a:r>
              <a:rPr lang="en-US" sz="2000" b="1"/>
              <a:t>elettron-donatori / elettron-attrattori</a:t>
            </a:r>
            <a:r>
              <a:rPr lang="en-US" sz="2000"/>
              <a:t>; il gruppo metile è un esempio di </a:t>
            </a:r>
            <a:r>
              <a:rPr lang="en-US" sz="2000" b="1"/>
              <a:t>elettron-donatore / elettron-attrattore</a:t>
            </a:r>
            <a:r>
              <a:rPr lang="en-US" sz="2000"/>
              <a:t>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Ora tocca a te</a:t>
            </a:r>
            <a:b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Il laurilsolfato di sodio (1-dodecilsolfato di sodio) è un composto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tensioattivo presente in molti prodotti per l’igiene personale (come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shampoo e saponi), detersivi e cosmetici. Sapresti ipotizzare quale 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funzione svolge in ciascuno di questi prodotti?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9"/>
          <p:cNvSpPr txBox="1"/>
          <p:nvPr/>
        </p:nvSpPr>
        <p:spPr>
          <a:xfrm rot="5400000">
            <a:off x="-3047050" y="3067950"/>
            <a:ext cx="6597600" cy="4617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rgbClr val="00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SOSTENIBILITÀ</a:t>
            </a:r>
            <a:endParaRPr/>
          </a:p>
        </p:txBody>
      </p:sp>
      <p:sp>
        <p:nvSpPr>
          <p:cNvPr id="406" name="Google Shape;406;p29"/>
          <p:cNvSpPr txBox="1"/>
          <p:nvPr/>
        </p:nvSpPr>
        <p:spPr>
          <a:xfrm>
            <a:off x="647700" y="44450"/>
            <a:ext cx="79566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4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L</a:t>
            </a:r>
            <a:r>
              <a:rPr lang="en-US" sz="4000">
                <a:solidFill>
                  <a:srgbClr val="FF0000"/>
                </a:solidFill>
              </a:rPr>
              <a:t>’alterazione del ciclo del carbonio /1</a:t>
            </a:r>
            <a:endParaRPr/>
          </a:p>
        </p:txBody>
      </p:sp>
      <p:sp>
        <p:nvSpPr>
          <p:cNvPr id="407" name="Google Shape;407;p29"/>
          <p:cNvSpPr txBox="1"/>
          <p:nvPr/>
        </p:nvSpPr>
        <p:spPr>
          <a:xfrm>
            <a:off x="541200" y="1461400"/>
            <a:ext cx="80172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Il </a:t>
            </a:r>
            <a:r>
              <a:rPr lang="en-US" sz="2200" b="1"/>
              <a:t>carbonio</a:t>
            </a:r>
            <a:r>
              <a:rPr lang="en-US" sz="2200"/>
              <a:t> costituisce l’ossatura delle molecole biologiche. Legandosi a pochi altri </a:t>
            </a:r>
            <a:r>
              <a:rPr lang="en-US" sz="2200" i="1"/>
              <a:t>elementi essenziali</a:t>
            </a:r>
            <a:r>
              <a:rPr lang="en-US" sz="2200"/>
              <a:t> 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origina un gran numero di composti organici.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C non è molto abbondante sul pianeta. Lo troviamo all’interno di </a:t>
            </a:r>
            <a:r>
              <a:rPr lang="en-US" sz="2200" i="1"/>
              <a:t>rocce</a:t>
            </a:r>
            <a:r>
              <a:rPr lang="en-US" sz="2200"/>
              <a:t> solide, giacimenti di </a:t>
            </a:r>
            <a:r>
              <a:rPr lang="en-US" sz="2200" i="1"/>
              <a:t>combustibili fossili</a:t>
            </a:r>
            <a:r>
              <a:rPr lang="en-US" sz="2200"/>
              <a:t> e </a:t>
            </a:r>
            <a:r>
              <a:rPr lang="en-US" sz="2200" i="1"/>
              <a:t>atmosfera</a:t>
            </a:r>
            <a:r>
              <a:rPr lang="en-US" sz="2200"/>
              <a:t> (CO</a:t>
            </a:r>
            <a:r>
              <a:rPr lang="en-US" sz="2200" baseline="-25000">
                <a:solidFill>
                  <a:schemeClr val="dk1"/>
                </a:solidFill>
              </a:rPr>
              <a:t>2</a:t>
            </a:r>
            <a:r>
              <a:rPr lang="en-US" sz="2200"/>
              <a:t>). Questa viene assorbita dagli </a:t>
            </a:r>
            <a:r>
              <a:rPr lang="en-US" sz="2200" b="1"/>
              <a:t>organismi fotosintetici</a:t>
            </a:r>
            <a:r>
              <a:rPr lang="en-US" sz="2200"/>
              <a:t> che formano molecole organiche che verranno assimilate dagli </a:t>
            </a:r>
            <a:r>
              <a:rPr lang="en-US" sz="2200" b="1"/>
              <a:t>organismi eterotrofi</a:t>
            </a:r>
            <a:r>
              <a:rPr lang="en-US" sz="2200"/>
              <a:t> attraverso la catena alimentare.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Infine, grazie alla </a:t>
            </a:r>
            <a:r>
              <a:rPr lang="en-US" sz="2200" b="1"/>
              <a:t>respirazione</a:t>
            </a:r>
            <a:r>
              <a:rPr lang="en-US" sz="2200"/>
              <a:t> e alla </a:t>
            </a:r>
            <a:r>
              <a:rPr lang="en-US" sz="2200" b="1"/>
              <a:t>decomposizione</a:t>
            </a:r>
            <a:r>
              <a:rPr lang="en-US" sz="2200"/>
              <a:t>, C torna in atmosfera in forma di </a:t>
            </a:r>
            <a:r>
              <a:rPr lang="en-US" sz="2200">
                <a:solidFill>
                  <a:schemeClr val="dk1"/>
                </a:solidFill>
              </a:rPr>
              <a:t>CO</a:t>
            </a:r>
            <a:r>
              <a:rPr lang="en-US" sz="2200" baseline="-25000">
                <a:solidFill>
                  <a:schemeClr val="dk1"/>
                </a:solidFill>
              </a:rPr>
              <a:t>2</a:t>
            </a:r>
            <a:r>
              <a:rPr lang="en-US" sz="2200">
                <a:solidFill>
                  <a:schemeClr val="dk1"/>
                </a:solidFill>
              </a:rPr>
              <a:t>. Questi processi costituiscono il </a:t>
            </a:r>
            <a:r>
              <a:rPr lang="en-US" sz="2200" b="1"/>
              <a:t>ciclo del carbonio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411" name="Google Shape;411;p29"/>
          <p:cNvSpPr txBox="1"/>
          <p:nvPr/>
        </p:nvSpPr>
        <p:spPr>
          <a:xfrm rot="5400000">
            <a:off x="5633400" y="3067950"/>
            <a:ext cx="6597600" cy="4617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rgbClr val="00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SOSTENIBILITÀ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/>
        </p:nvSpPr>
        <p:spPr>
          <a:xfrm rot="5400000">
            <a:off x="-3047050" y="3067950"/>
            <a:ext cx="6597600" cy="4617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rgbClr val="00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SOSTENIBILITÀ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647700" y="44450"/>
            <a:ext cx="79566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4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L</a:t>
            </a:r>
            <a:r>
              <a:rPr lang="en-US" sz="4000">
                <a:solidFill>
                  <a:srgbClr val="FF0000"/>
                </a:solidFill>
              </a:rPr>
              <a:t>’alterazione del ciclo del carbonio /2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541200" y="1484450"/>
            <a:ext cx="80172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Le attività umane causano </a:t>
            </a:r>
            <a:r>
              <a:rPr lang="en-US" sz="2200" b="1"/>
              <a:t>alterazione dei cicli biogeochimici</a:t>
            </a:r>
            <a:r>
              <a:rPr lang="en-US" sz="2200"/>
              <a:t>, modificando i processi di riciclo della materia organica e inorganica della biosfera.</a:t>
            </a: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L’alterazione del ciclo del carbonio ha importanti ripercussioni su </a:t>
            </a:r>
            <a:r>
              <a:rPr lang="en-US" sz="2200" b="1"/>
              <a:t>clima</a:t>
            </a:r>
            <a:r>
              <a:rPr lang="en-US" sz="2200"/>
              <a:t> ed </a:t>
            </a:r>
            <a:r>
              <a:rPr lang="en-US" sz="2200" b="1"/>
              <a:t>ecosistemi</a:t>
            </a:r>
            <a:r>
              <a:rPr lang="en-US" sz="2200"/>
              <a:t>: l’</a:t>
            </a:r>
            <a:r>
              <a:rPr lang="en-US" sz="2200" b="1"/>
              <a:t>incremento di </a:t>
            </a:r>
            <a:r>
              <a:rPr lang="en-US" sz="2200" b="1">
                <a:solidFill>
                  <a:schemeClr val="dk1"/>
                </a:solidFill>
              </a:rPr>
              <a:t>CO</a:t>
            </a:r>
            <a:r>
              <a:rPr lang="en-US" sz="2200" b="1" baseline="-25000">
                <a:solidFill>
                  <a:schemeClr val="dk1"/>
                </a:solidFill>
              </a:rPr>
              <a:t>2 </a:t>
            </a:r>
            <a:r>
              <a:rPr lang="en-US" sz="2200" b="1">
                <a:solidFill>
                  <a:schemeClr val="dk1"/>
                </a:solidFill>
              </a:rPr>
              <a:t>atmosferico</a:t>
            </a:r>
            <a:r>
              <a:rPr lang="en-US" sz="2200">
                <a:solidFill>
                  <a:schemeClr val="dk1"/>
                </a:solidFill>
              </a:rPr>
              <a:t> e la </a:t>
            </a:r>
            <a:r>
              <a:rPr lang="en-US" sz="2200" b="1">
                <a:solidFill>
                  <a:schemeClr val="dk1"/>
                </a:solidFill>
              </a:rPr>
              <a:t>deforestazione</a:t>
            </a:r>
            <a:r>
              <a:rPr lang="en-US" sz="2200">
                <a:solidFill>
                  <a:schemeClr val="dk1"/>
                </a:solidFill>
              </a:rPr>
              <a:t> sono le principali cause del </a:t>
            </a:r>
            <a:r>
              <a:rPr lang="en-US" sz="2200" b="1">
                <a:solidFill>
                  <a:schemeClr val="dk1"/>
                </a:solidFill>
              </a:rPr>
              <a:t>riscaldamento globale</a:t>
            </a:r>
            <a:r>
              <a:rPr lang="en-US" sz="2200">
                <a:solidFill>
                  <a:schemeClr val="dk1"/>
                </a:solidFill>
              </a:rPr>
              <a:t>. Le emissioni eccedono la capacità di assorbimento degli organismi fotosintetici e degli scambi gassosi negli oceani.</a:t>
            </a:r>
            <a:endParaRPr sz="2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Proteggere e ripristinare l’integrità degli ecosistemi è fondamentale per stabilizzare il clima e preservare la biodiversità.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27" name="Google Shape;427;p30"/>
          <p:cNvSpPr txBox="1"/>
          <p:nvPr/>
        </p:nvSpPr>
        <p:spPr>
          <a:xfrm rot="5400000">
            <a:off x="5633400" y="3067950"/>
            <a:ext cx="6597600" cy="4617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rgbClr val="00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SOSTENIBILITÀ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"/>
          <p:cNvSpPr txBox="1"/>
          <p:nvPr/>
        </p:nvSpPr>
        <p:spPr>
          <a:xfrm rot="5400000">
            <a:off x="-3047050" y="3067950"/>
            <a:ext cx="6597600" cy="4617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rgbClr val="00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SOSTENIBILITÀ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647700" y="44450"/>
            <a:ext cx="7956600" cy="1463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1700" tIns="42475" rIns="81700" bIns="42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</a:rPr>
              <a:t>4</a:t>
            </a: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L</a:t>
            </a:r>
            <a:r>
              <a:rPr lang="en-US" sz="4000">
                <a:solidFill>
                  <a:srgbClr val="FF0000"/>
                </a:solidFill>
              </a:rPr>
              <a:t>’alterazione del ciclo del carbonio /3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522925" y="1521975"/>
            <a:ext cx="8138100" cy="49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/>
              <a:t>Nel 2009 scienziati del </a:t>
            </a:r>
            <a:r>
              <a:rPr lang="en-US" sz="2200" i="1"/>
              <a:t>Resilience Centre</a:t>
            </a:r>
            <a:r>
              <a:rPr lang="en-US" sz="2200">
                <a:solidFill>
                  <a:schemeClr val="dk1"/>
                </a:solidFill>
              </a:rPr>
              <a:t> di Stoccolma hanno proposto di definire dei 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«</a:t>
            </a:r>
            <a:r>
              <a:rPr lang="en-US" sz="2200" b="1">
                <a:solidFill>
                  <a:srgbClr val="202122"/>
                </a:solidFill>
                <a:highlight>
                  <a:schemeClr val="lt1"/>
                </a:highlight>
              </a:rPr>
              <a:t>confini planetari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» da non oltrepassare per evitare danni irreversibili all’ambiente. 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Sono stati individuati alcuni </a:t>
            </a:r>
            <a:r>
              <a:rPr lang="en-US" sz="2200" i="1">
                <a:solidFill>
                  <a:srgbClr val="202122"/>
                </a:solidFill>
                <a:highlight>
                  <a:schemeClr val="lt1"/>
                </a:highlight>
              </a:rPr>
              <a:t>processi ambientali</a:t>
            </a: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 per i quali è possibile stabilire parametri di controllo e una soglia critica da non superare: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0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cambiamenti climatici;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perdita di biodiversità;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alterazione dei cicli di N e P;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riduzione della fascia di ozono stratosferico;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acidificazione degli oceani;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consumo di risorse idriche;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200"/>
              <a:buChar char="●"/>
            </a:pPr>
            <a:r>
              <a:rPr lang="en-US" sz="2200">
                <a:solidFill>
                  <a:srgbClr val="202122"/>
                </a:solidFill>
                <a:highlight>
                  <a:schemeClr val="lt1"/>
                </a:highlight>
              </a:rPr>
              <a:t>destinazione d’uso dei suoli.</a:t>
            </a:r>
            <a:endParaRPr sz="2200">
              <a:solidFill>
                <a:srgbClr val="202122"/>
              </a:solidFill>
              <a:highlight>
                <a:schemeClr val="lt1"/>
              </a:highlight>
            </a:endParaRPr>
          </a:p>
        </p:txBody>
      </p:sp>
      <p:sp>
        <p:nvSpPr>
          <p:cNvPr id="443" name="Google Shape;443;p31"/>
          <p:cNvSpPr txBox="1"/>
          <p:nvPr/>
        </p:nvSpPr>
        <p:spPr>
          <a:xfrm rot="5400000">
            <a:off x="5633400" y="3067950"/>
            <a:ext cx="6597600" cy="461700"/>
          </a:xfrm>
          <a:prstGeom prst="rect">
            <a:avLst/>
          </a:prstGeom>
          <a:solidFill>
            <a:srgbClr val="33CC33"/>
          </a:solidFill>
          <a:ln w="9525" cap="flat" cmpd="sng">
            <a:solidFill>
              <a:srgbClr val="00CC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SOSTENIBILITÀ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/>
          <p:nvPr/>
        </p:nvSpPr>
        <p:spPr>
          <a:xfrm rot="5400000">
            <a:off x="-3024187" y="3024187"/>
            <a:ext cx="6597650" cy="5492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 rot="5400000">
            <a:off x="5570538" y="3024187"/>
            <a:ext cx="6597650" cy="5492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2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LEARNING</a:t>
            </a:r>
            <a:endParaRPr/>
          </a:p>
        </p:txBody>
      </p:sp>
      <p:sp>
        <p:nvSpPr>
          <p:cNvPr id="458" name="Google Shape;458;p32"/>
          <p:cNvSpPr txBox="1"/>
          <p:nvPr/>
        </p:nvSpPr>
        <p:spPr>
          <a:xfrm>
            <a:off x="689837" y="12"/>
            <a:ext cx="7775700" cy="6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Rispondi</a:t>
            </a: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500">
              <a:solidFill>
                <a:srgbClr val="FF0000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Perché il carbonio è l’elemento più importante per la vita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Quali sono le riserve terrestri di carbonio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In che modo le attività umane hanno alterato il ciclo del carbonio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000">
              <a:solidFill>
                <a:srgbClr val="000000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13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Scegli le parole</a:t>
            </a: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500">
              <a:solidFill>
                <a:srgbClr val="FF0000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Nei cicli biogeochimici gli </a:t>
            </a:r>
            <a:r>
              <a:rPr lang="en-US" sz="2000" b="1">
                <a:solidFill>
                  <a:srgbClr val="000000"/>
                </a:solidFill>
              </a:rPr>
              <a:t>elementi / organismi</a:t>
            </a:r>
            <a:r>
              <a:rPr lang="en-US" sz="2000">
                <a:solidFill>
                  <a:srgbClr val="000000"/>
                </a:solidFill>
              </a:rPr>
              <a:t> sono continuamente scambiati tra viventi e </a:t>
            </a:r>
            <a:r>
              <a:rPr lang="en-US" sz="2000" b="1">
                <a:solidFill>
                  <a:srgbClr val="000000"/>
                </a:solidFill>
              </a:rPr>
              <a:t>atmosfera / ambiente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-US" sz="2000">
                <a:solidFill>
                  <a:srgbClr val="000000"/>
                </a:solidFill>
              </a:rPr>
              <a:t>A causa della </a:t>
            </a:r>
            <a:r>
              <a:rPr lang="en-US" sz="2000" b="1">
                <a:solidFill>
                  <a:srgbClr val="000000"/>
                </a:solidFill>
              </a:rPr>
              <a:t>deforestazione / eutrofizzazione</a:t>
            </a:r>
            <a:r>
              <a:rPr lang="en-US" sz="2000">
                <a:solidFill>
                  <a:srgbClr val="000000"/>
                </a:solidFill>
              </a:rPr>
              <a:t> non si sottrae all’atmosfera </a:t>
            </a:r>
            <a:r>
              <a:rPr lang="en-US" sz="2000" b="1">
                <a:solidFill>
                  <a:srgbClr val="000000"/>
                </a:solidFill>
              </a:rPr>
              <a:t>CH</a:t>
            </a:r>
            <a:r>
              <a:rPr lang="en-US" sz="2000" b="1" baseline="-25000">
                <a:solidFill>
                  <a:srgbClr val="000000"/>
                </a:solidFill>
              </a:rPr>
              <a:t>4</a:t>
            </a:r>
            <a:r>
              <a:rPr lang="en-US" sz="2000" b="1">
                <a:solidFill>
                  <a:srgbClr val="000000"/>
                </a:solidFill>
              </a:rPr>
              <a:t> / CO</a:t>
            </a:r>
            <a:r>
              <a:rPr lang="en-US" sz="2000" b="1" baseline="-25000">
                <a:solidFill>
                  <a:srgbClr val="000000"/>
                </a:solidFill>
              </a:rPr>
              <a:t>2</a:t>
            </a:r>
            <a:r>
              <a:rPr lang="en-US" sz="2000" b="1">
                <a:solidFill>
                  <a:srgbClr val="000000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né si accumula carbonio nei tessuti vegetali.</a:t>
            </a:r>
            <a:endParaRPr sz="2000">
              <a:solidFill>
                <a:srgbClr val="000000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13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Ora tocca a te</a:t>
            </a:r>
            <a:endParaRPr sz="24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500">
              <a:solidFill>
                <a:srgbClr val="FF0000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La </a:t>
            </a:r>
            <a:r>
              <a:rPr lang="en-US" sz="2000" i="1"/>
              <a:t>carbon footprint</a:t>
            </a:r>
            <a:r>
              <a:rPr lang="en-US" sz="2000"/>
              <a:t> (o impronta di carbonio) è il parametro usato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per calcolare la quantità di gas serra emessa da una persona, da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un’attività o da un’organizzazione. Ricerca in Rete quali fattori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contribuiscono al calcolo della </a:t>
            </a:r>
            <a:r>
              <a:rPr lang="en-US" sz="2000" i="1"/>
              <a:t>carbon footprint</a:t>
            </a:r>
            <a:r>
              <a:rPr lang="en-US" sz="2000"/>
              <a:t> e in quale unità di</a:t>
            </a:r>
            <a:endParaRPr sz="20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/>
              <a:t>misura viene espressa</a:t>
            </a:r>
            <a:r>
              <a:rPr lang="en-US" sz="2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1300" b="0" i="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DIMMI LA TUA! </a:t>
            </a:r>
            <a:r>
              <a:rPr lang="en-US" sz="2000" b="1">
                <a:solidFill>
                  <a:srgbClr val="000000"/>
                </a:solidFill>
              </a:rPr>
              <a:t>Utilità della chimica organica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zione vuota">
  <a:themeElements>
    <a:clrScheme name="Presentazione vuo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2149</Words>
  <Application>Microsoft Office PowerPoint</Application>
  <PresentationFormat>Presentazione su schermo (4:3)</PresentationFormat>
  <Paragraphs>401</Paragraphs>
  <Slides>27</Slides>
  <Notes>27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Presentazione vuota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Antonio B</dc:creator>
  <cp:lastModifiedBy>Antonio B</cp:lastModifiedBy>
  <cp:revision>2</cp:revision>
  <dcterms:modified xsi:type="dcterms:W3CDTF">2024-09-16T12:12:40Z</dcterms:modified>
</cp:coreProperties>
</file>